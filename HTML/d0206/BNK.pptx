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60" r:id="rId5"/>
    <p:sldId id="258" r:id="rId6"/>
    <p:sldId id="261" r:id="rId7"/>
    <p:sldId id="259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6677" autoAdjust="0"/>
  </p:normalViewPr>
  <p:slideViewPr>
    <p:cSldViewPr snapToGrid="0">
      <p:cViewPr varScale="1">
        <p:scale>
          <a:sx n="124" d="100"/>
          <a:sy n="124" d="100"/>
        </p:scale>
        <p:origin x="1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014FC8-3DED-5A3B-9F0F-95B60C4D56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A61702-52C5-C1DD-C408-8E700ED133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C66B16-D303-F3E0-1B2D-2DBC21588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2E699-375A-4B32-8D78-A9C52CBF390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F96502-6ACC-72A9-9EFD-E846F64D8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035558-98C0-46A2-ECBE-BD6B70DA6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C7731-0E35-4257-8EED-DB86C5453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738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714C04-218D-B0AE-6E32-E910DD9C8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C5B519-ED76-E29B-818A-29D413D9B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87389E-5B5F-CFE4-526E-79C132110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2E699-375A-4B32-8D78-A9C52CBF390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7B62E2-C1BA-D8C8-206B-A450BE14C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0719B5-8811-9ABE-A8ED-44D2CED44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C7731-0E35-4257-8EED-DB86C5453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674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258E91-FA60-26F3-E848-BDA8FE3ED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9A118F-515F-FD4F-03FB-C03341916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C3CC94-4C23-C44B-8412-AB8FD00D9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2E699-375A-4B32-8D78-A9C52CBF390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6FAB98-B119-604F-667D-63ED36EE3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F00D86-C0ED-69CD-738F-EEDD05F51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C7731-0E35-4257-8EED-DB86C5453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710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5578FB-31BF-160F-B5CB-9E5A7FFE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00FB28-3329-D6A5-9353-885688DC20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305F3A-ECAB-4EF4-AC68-5D17F48AD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A6901C-B2E9-5A7D-2820-275CC7BDC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2E699-375A-4B32-8D78-A9C52CBF390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39369D-47F1-A29A-051A-D8B062C1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DE8B12-D301-E5EF-33AE-FD6BD1362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C7731-0E35-4257-8EED-DB86C5453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753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CC24DD-61FC-2AFC-B114-C965448DF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6644B9-D3AC-AB27-3CBF-5B1DB911E8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B3FF29-2325-1420-C2F6-81918BAFB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CA6629-9F83-D97F-4887-9EA1204AF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DC5166-2CBB-56E9-589B-16E079E6F5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11B9E67-8DD1-E5BB-C12A-F05DE7F9A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2E699-375A-4B32-8D78-A9C52CBF390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42DBF3C-4D33-4D06-2ECA-4F0A3AA8E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60969D1-9460-8244-0B6E-AE86A24AF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C7731-0E35-4257-8EED-DB86C5453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94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28D0D2-6F61-A881-E628-F9A3C21E6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F001CBB-2277-59F9-5AB8-2D7273CC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2E699-375A-4B32-8D78-A9C52CBF390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58B4FD-4A0B-D572-D09D-72BFA1208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584522-2AE5-F6B3-5E2C-39A690658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C7731-0E35-4257-8EED-DB86C5453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939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28B946-8F40-430D-F583-E028AA14B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2E699-375A-4B32-8D78-A9C52CBF390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EE4055D-9768-A436-3F49-546EF7CC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3281E7-07BD-0493-E810-266E12440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C7731-0E35-4257-8EED-DB86C5453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204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DAFB61-F2A6-1664-1E22-111B766C1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64D735-BEF6-CB97-CDD5-30695DD4B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F9B6D8-3D8E-9344-9510-0B2615449C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72DC33-F0CB-7893-C196-4294A1AD5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2E699-375A-4B32-8D78-A9C52CBF390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95C8DA1-6FDA-7F93-BEE8-4A0E92434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E417CD-2F50-F998-4203-351F6059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C7731-0E35-4257-8EED-DB86C5453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186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88D377-A4DA-EECE-8981-4364D4B35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C182636-6EA7-3DA0-43AF-B525F05BCF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6E7C648-E376-FBE8-178F-91858E10F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5D8D0F-1242-8DE3-7A37-8A161CA37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2E699-375A-4B32-8D78-A9C52CBF390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047BF2-DC38-A058-B0B7-16055AD24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299CDE-C248-B784-FFE8-565809E2C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C7731-0E35-4257-8EED-DB86C5453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349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014028-EB87-E402-4187-1F0F39759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1FBC1A-0CA5-07C2-E154-86F985612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EE6044-E9DA-1B3C-D5DC-8BD232242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2E699-375A-4B32-8D78-A9C52CBF390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0E08E4-525F-460F-0F25-2C85E8607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A212D3-8E76-9256-C3BD-2F0234D41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C7731-0E35-4257-8EED-DB86C5453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271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4A47E83-12FA-36C7-9445-A5F6CE77B1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CBED746-73EC-6D00-69B3-823DC3138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C26EB6-79D2-CC94-D80E-CFEE36957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2E699-375A-4B32-8D78-A9C52CBF390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FE2EDF-36BD-D858-DF52-C06174CF1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F7EE30-F77B-5E74-4491-4A8E4D23A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8C7731-0E35-4257-8EED-DB86C5453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574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D8C1FB-D508-6C7E-690F-4C2F0663E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387685-A65F-099D-25B1-1CB383CB2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D56F54-6641-31F2-F779-85478AFFF5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82E699-375A-4B32-8D78-A9C52CBF390B}" type="datetimeFigureOut">
              <a:rPr lang="ko-KR" altLang="en-US" smtClean="0"/>
              <a:t>2026-02-06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3BBE92-6B60-FFFF-9A41-590855A5BA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C4D1C-6994-EA41-1056-2FC6E955BF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8C7731-0E35-4257-8EED-DB86C54535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778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B6E6CE4-CCAA-134A-76BE-FFF0D2F9ED49}"/>
              </a:ext>
            </a:extLst>
          </p:cNvPr>
          <p:cNvSpPr/>
          <p:nvPr/>
        </p:nvSpPr>
        <p:spPr>
          <a:xfrm>
            <a:off x="329184" y="128015"/>
            <a:ext cx="7871461" cy="66732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5859BE0-7691-E6A3-816B-68072770FF3B}"/>
              </a:ext>
            </a:extLst>
          </p:cNvPr>
          <p:cNvSpPr/>
          <p:nvPr/>
        </p:nvSpPr>
        <p:spPr>
          <a:xfrm>
            <a:off x="5176440" y="335663"/>
            <a:ext cx="533600" cy="2553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52EC47B-F5CD-45B7-EA5A-7322072E75BD}"/>
              </a:ext>
            </a:extLst>
          </p:cNvPr>
          <p:cNvSpPr/>
          <p:nvPr/>
        </p:nvSpPr>
        <p:spPr>
          <a:xfrm>
            <a:off x="5960547" y="756102"/>
            <a:ext cx="408672" cy="1388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387368F-F425-C232-E4A0-889595889B77}"/>
              </a:ext>
            </a:extLst>
          </p:cNvPr>
          <p:cNvSpPr/>
          <p:nvPr/>
        </p:nvSpPr>
        <p:spPr>
          <a:xfrm>
            <a:off x="6545433" y="748928"/>
            <a:ext cx="408672" cy="1388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1BB30E-8CEF-A4A7-4130-16E2036FC009}"/>
              </a:ext>
            </a:extLst>
          </p:cNvPr>
          <p:cNvSpPr/>
          <p:nvPr/>
        </p:nvSpPr>
        <p:spPr>
          <a:xfrm>
            <a:off x="1504842" y="386054"/>
            <a:ext cx="1313928" cy="5297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Logo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92117C5-362D-2E8D-2BBC-CBA301C8C042}"/>
              </a:ext>
            </a:extLst>
          </p:cNvPr>
          <p:cNvSpPr/>
          <p:nvPr/>
        </p:nvSpPr>
        <p:spPr>
          <a:xfrm>
            <a:off x="1503638" y="5970530"/>
            <a:ext cx="408672" cy="1388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DADD89D-0D9C-B761-F721-328E6A550797}"/>
              </a:ext>
            </a:extLst>
          </p:cNvPr>
          <p:cNvSpPr/>
          <p:nvPr/>
        </p:nvSpPr>
        <p:spPr>
          <a:xfrm>
            <a:off x="3769747" y="698362"/>
            <a:ext cx="529590" cy="2561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31F257B-D053-23D6-9F96-2F1B5BCB9E4D}"/>
              </a:ext>
            </a:extLst>
          </p:cNvPr>
          <p:cNvSpPr/>
          <p:nvPr/>
        </p:nvSpPr>
        <p:spPr>
          <a:xfrm>
            <a:off x="1505644" y="6249139"/>
            <a:ext cx="408672" cy="1388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DFF70AE-8E73-890A-18A5-CD66950C222F}"/>
              </a:ext>
            </a:extLst>
          </p:cNvPr>
          <p:cNvSpPr/>
          <p:nvPr/>
        </p:nvSpPr>
        <p:spPr>
          <a:xfrm>
            <a:off x="2012202" y="6249139"/>
            <a:ext cx="408672" cy="1388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94FC19D-1325-3A78-1C36-B73F35E586D5}"/>
              </a:ext>
            </a:extLst>
          </p:cNvPr>
          <p:cNvSpPr/>
          <p:nvPr/>
        </p:nvSpPr>
        <p:spPr>
          <a:xfrm>
            <a:off x="2515604" y="6250325"/>
            <a:ext cx="408672" cy="1388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D7EAC1B-4AE8-A611-E1E9-CF2177813867}"/>
              </a:ext>
            </a:extLst>
          </p:cNvPr>
          <p:cNvSpPr/>
          <p:nvPr/>
        </p:nvSpPr>
        <p:spPr>
          <a:xfrm>
            <a:off x="5972755" y="6594962"/>
            <a:ext cx="408672" cy="1388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6BDF9FE-EB95-2CDA-7EFB-116229944108}"/>
              </a:ext>
            </a:extLst>
          </p:cNvPr>
          <p:cNvSpPr/>
          <p:nvPr/>
        </p:nvSpPr>
        <p:spPr>
          <a:xfrm>
            <a:off x="1506232" y="1293988"/>
            <a:ext cx="3991534" cy="13004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B860AE2-9948-8132-83E7-007CCBFBCEF4}"/>
              </a:ext>
            </a:extLst>
          </p:cNvPr>
          <p:cNvSpPr/>
          <p:nvPr/>
        </p:nvSpPr>
        <p:spPr>
          <a:xfrm>
            <a:off x="4463549" y="698362"/>
            <a:ext cx="529590" cy="2561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8A92DCC-6865-160D-773F-42893B4C3916}"/>
              </a:ext>
            </a:extLst>
          </p:cNvPr>
          <p:cNvSpPr/>
          <p:nvPr/>
        </p:nvSpPr>
        <p:spPr>
          <a:xfrm>
            <a:off x="5157590" y="708866"/>
            <a:ext cx="529590" cy="2561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749C5148-896E-A894-058B-3DC334782C38}"/>
              </a:ext>
            </a:extLst>
          </p:cNvPr>
          <p:cNvSpPr/>
          <p:nvPr/>
        </p:nvSpPr>
        <p:spPr>
          <a:xfrm>
            <a:off x="2007040" y="5970530"/>
            <a:ext cx="408672" cy="1388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47BD40E1-B1D7-068A-B0A9-871CA00FCDB5}"/>
              </a:ext>
            </a:extLst>
          </p:cNvPr>
          <p:cNvSpPr/>
          <p:nvPr/>
        </p:nvSpPr>
        <p:spPr>
          <a:xfrm>
            <a:off x="2507377" y="5970530"/>
            <a:ext cx="408672" cy="1388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6AC89FD-6B03-AA2C-BACA-75BB6D8C3602}"/>
              </a:ext>
            </a:extLst>
          </p:cNvPr>
          <p:cNvSpPr/>
          <p:nvPr/>
        </p:nvSpPr>
        <p:spPr>
          <a:xfrm>
            <a:off x="3017430" y="5970530"/>
            <a:ext cx="408672" cy="1388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B09377E-12F2-D0AA-7F0A-671DFD24DA55}"/>
              </a:ext>
            </a:extLst>
          </p:cNvPr>
          <p:cNvSpPr/>
          <p:nvPr/>
        </p:nvSpPr>
        <p:spPr>
          <a:xfrm>
            <a:off x="3510659" y="5973269"/>
            <a:ext cx="408672" cy="1388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463EC05-B66A-5E7D-4884-66075A1BFE6E}"/>
              </a:ext>
            </a:extLst>
          </p:cNvPr>
          <p:cNvSpPr/>
          <p:nvPr/>
        </p:nvSpPr>
        <p:spPr>
          <a:xfrm>
            <a:off x="4014061" y="5973269"/>
            <a:ext cx="408672" cy="1388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2DD6718C-F809-B9DD-4700-052C40701681}"/>
              </a:ext>
            </a:extLst>
          </p:cNvPr>
          <p:cNvSpPr/>
          <p:nvPr/>
        </p:nvSpPr>
        <p:spPr>
          <a:xfrm>
            <a:off x="4514398" y="5973269"/>
            <a:ext cx="408672" cy="1388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6170EAC-C653-090A-991C-3004D5F45E76}"/>
              </a:ext>
            </a:extLst>
          </p:cNvPr>
          <p:cNvSpPr/>
          <p:nvPr/>
        </p:nvSpPr>
        <p:spPr>
          <a:xfrm>
            <a:off x="5024451" y="5973269"/>
            <a:ext cx="408672" cy="1388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4207DC2-74ED-A145-349F-932824092B73}"/>
              </a:ext>
            </a:extLst>
          </p:cNvPr>
          <p:cNvSpPr/>
          <p:nvPr/>
        </p:nvSpPr>
        <p:spPr>
          <a:xfrm>
            <a:off x="5866498" y="1749154"/>
            <a:ext cx="1087607" cy="3695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1493E8C-314C-0A32-84AA-7B824FD36317}"/>
              </a:ext>
            </a:extLst>
          </p:cNvPr>
          <p:cNvSpPr/>
          <p:nvPr/>
        </p:nvSpPr>
        <p:spPr>
          <a:xfrm>
            <a:off x="1933090" y="2978156"/>
            <a:ext cx="601333" cy="2561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37FC96F-7734-CDDC-0A3A-6C7F60A0D55C}"/>
              </a:ext>
            </a:extLst>
          </p:cNvPr>
          <p:cNvSpPr/>
          <p:nvPr/>
        </p:nvSpPr>
        <p:spPr>
          <a:xfrm>
            <a:off x="1936426" y="3389674"/>
            <a:ext cx="601333" cy="2561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7099F154-284A-B240-5F9E-E74DAF031E45}"/>
              </a:ext>
            </a:extLst>
          </p:cNvPr>
          <p:cNvSpPr/>
          <p:nvPr/>
        </p:nvSpPr>
        <p:spPr>
          <a:xfrm>
            <a:off x="2911276" y="2984645"/>
            <a:ext cx="601333" cy="2561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1D800D36-E5BD-269D-8423-26FEB72BF350}"/>
              </a:ext>
            </a:extLst>
          </p:cNvPr>
          <p:cNvSpPr/>
          <p:nvPr/>
        </p:nvSpPr>
        <p:spPr>
          <a:xfrm>
            <a:off x="2911276" y="3390698"/>
            <a:ext cx="601333" cy="2561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541AAA0-F876-775D-6DE1-E1F6B7851032}"/>
              </a:ext>
            </a:extLst>
          </p:cNvPr>
          <p:cNvSpPr/>
          <p:nvPr/>
        </p:nvSpPr>
        <p:spPr>
          <a:xfrm>
            <a:off x="1504806" y="4007442"/>
            <a:ext cx="2441674" cy="11251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5D2AA3FB-7C01-AF24-EC78-CD4BD364F6FA}"/>
              </a:ext>
            </a:extLst>
          </p:cNvPr>
          <p:cNvCxnSpPr>
            <a:cxnSpLocks/>
          </p:cNvCxnSpPr>
          <p:nvPr/>
        </p:nvCxnSpPr>
        <p:spPr>
          <a:xfrm>
            <a:off x="329184" y="1145188"/>
            <a:ext cx="787146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F8817133-8AA3-E16B-7428-44C6F39BC38D}"/>
              </a:ext>
            </a:extLst>
          </p:cNvPr>
          <p:cNvSpPr/>
          <p:nvPr/>
        </p:nvSpPr>
        <p:spPr>
          <a:xfrm>
            <a:off x="4446236" y="4016589"/>
            <a:ext cx="2509353" cy="11251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CCF53D3A-BF90-ACF5-178B-C29B646B68BA}"/>
              </a:ext>
            </a:extLst>
          </p:cNvPr>
          <p:cNvSpPr/>
          <p:nvPr/>
        </p:nvSpPr>
        <p:spPr>
          <a:xfrm>
            <a:off x="1505310" y="5286254"/>
            <a:ext cx="765724" cy="278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B20B4FA6-7E02-D705-9F1F-1BA8309B950F}"/>
              </a:ext>
            </a:extLst>
          </p:cNvPr>
          <p:cNvSpPr/>
          <p:nvPr/>
        </p:nvSpPr>
        <p:spPr>
          <a:xfrm>
            <a:off x="2416814" y="5286254"/>
            <a:ext cx="765724" cy="278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C55A9C0D-E424-F097-7D0D-4A1F252BF9DC}"/>
              </a:ext>
            </a:extLst>
          </p:cNvPr>
          <p:cNvSpPr/>
          <p:nvPr/>
        </p:nvSpPr>
        <p:spPr>
          <a:xfrm>
            <a:off x="3310842" y="5286254"/>
            <a:ext cx="765724" cy="278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DA64BC27-BB7E-7C33-C604-DC9C8EA48DF2}"/>
              </a:ext>
            </a:extLst>
          </p:cNvPr>
          <p:cNvSpPr/>
          <p:nvPr/>
        </p:nvSpPr>
        <p:spPr>
          <a:xfrm>
            <a:off x="4222346" y="5286254"/>
            <a:ext cx="765724" cy="278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978CCD0C-4E90-31BE-3B02-C00DF35FBA43}"/>
              </a:ext>
            </a:extLst>
          </p:cNvPr>
          <p:cNvSpPr/>
          <p:nvPr/>
        </p:nvSpPr>
        <p:spPr>
          <a:xfrm>
            <a:off x="5204195" y="5295401"/>
            <a:ext cx="765724" cy="278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1DDAA26D-2FC3-981D-21A5-3ADAA571D799}"/>
              </a:ext>
            </a:extLst>
          </p:cNvPr>
          <p:cNvSpPr/>
          <p:nvPr/>
        </p:nvSpPr>
        <p:spPr>
          <a:xfrm>
            <a:off x="6177171" y="5295401"/>
            <a:ext cx="765724" cy="278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D819D17-9861-06C4-A70D-C02E437A5066}"/>
              </a:ext>
            </a:extLst>
          </p:cNvPr>
          <p:cNvSpPr/>
          <p:nvPr/>
        </p:nvSpPr>
        <p:spPr>
          <a:xfrm>
            <a:off x="5866496" y="2218361"/>
            <a:ext cx="1087607" cy="3695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C233462-4E2A-0783-10D1-EA329A77A596}"/>
              </a:ext>
            </a:extLst>
          </p:cNvPr>
          <p:cNvSpPr/>
          <p:nvPr/>
        </p:nvSpPr>
        <p:spPr>
          <a:xfrm>
            <a:off x="5868723" y="1288458"/>
            <a:ext cx="1087607" cy="3695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501E976-1606-F418-4F3D-23B9BB594601}"/>
              </a:ext>
            </a:extLst>
          </p:cNvPr>
          <p:cNvSpPr/>
          <p:nvPr/>
        </p:nvSpPr>
        <p:spPr>
          <a:xfrm>
            <a:off x="4925535" y="2973616"/>
            <a:ext cx="601333" cy="2561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A71890D-EA0B-DE7C-5073-7C3DBD25C9C0}"/>
              </a:ext>
            </a:extLst>
          </p:cNvPr>
          <p:cNvSpPr/>
          <p:nvPr/>
        </p:nvSpPr>
        <p:spPr>
          <a:xfrm>
            <a:off x="4928871" y="3385134"/>
            <a:ext cx="601333" cy="2561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6B2A4A6-C75E-AB85-9081-D03FB3C25769}"/>
              </a:ext>
            </a:extLst>
          </p:cNvPr>
          <p:cNvSpPr/>
          <p:nvPr/>
        </p:nvSpPr>
        <p:spPr>
          <a:xfrm>
            <a:off x="5903721" y="2972421"/>
            <a:ext cx="601333" cy="2561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0DE2AB7-8140-0DA7-5B18-37BA0CF498BB}"/>
              </a:ext>
            </a:extLst>
          </p:cNvPr>
          <p:cNvSpPr/>
          <p:nvPr/>
        </p:nvSpPr>
        <p:spPr>
          <a:xfrm>
            <a:off x="5903721" y="3386158"/>
            <a:ext cx="601333" cy="2561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90637E6-CBE6-B454-BE75-A2AFC79E4D3B}"/>
              </a:ext>
            </a:extLst>
          </p:cNvPr>
          <p:cNvSpPr/>
          <p:nvPr/>
        </p:nvSpPr>
        <p:spPr>
          <a:xfrm>
            <a:off x="6545362" y="6594962"/>
            <a:ext cx="408672" cy="1388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4ABD3F7-116E-9A87-9684-81AA35AA57F5}"/>
              </a:ext>
            </a:extLst>
          </p:cNvPr>
          <p:cNvSpPr/>
          <p:nvPr/>
        </p:nvSpPr>
        <p:spPr>
          <a:xfrm>
            <a:off x="1503639" y="6580325"/>
            <a:ext cx="157416" cy="161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AC7B355-2408-D22C-732A-48862695838D}"/>
              </a:ext>
            </a:extLst>
          </p:cNvPr>
          <p:cNvSpPr/>
          <p:nvPr/>
        </p:nvSpPr>
        <p:spPr>
          <a:xfrm>
            <a:off x="1702143" y="6579045"/>
            <a:ext cx="157416" cy="161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53A89FD-E6AB-B7B6-300A-97D461A54B2E}"/>
              </a:ext>
            </a:extLst>
          </p:cNvPr>
          <p:cNvSpPr/>
          <p:nvPr/>
        </p:nvSpPr>
        <p:spPr>
          <a:xfrm>
            <a:off x="1908331" y="6579045"/>
            <a:ext cx="157416" cy="161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F92A2AC-01E3-E75E-93EA-EDD5FCB33DE9}"/>
              </a:ext>
            </a:extLst>
          </p:cNvPr>
          <p:cNvSpPr/>
          <p:nvPr/>
        </p:nvSpPr>
        <p:spPr>
          <a:xfrm>
            <a:off x="2106835" y="6577765"/>
            <a:ext cx="157416" cy="161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8FDAE442-B45B-5BB9-295B-C0F73FB4959C}"/>
              </a:ext>
            </a:extLst>
          </p:cNvPr>
          <p:cNvCxnSpPr>
            <a:cxnSpLocks/>
          </p:cNvCxnSpPr>
          <p:nvPr/>
        </p:nvCxnSpPr>
        <p:spPr>
          <a:xfrm>
            <a:off x="325186" y="5838851"/>
            <a:ext cx="787146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C92E9917-71EC-3E1F-7281-B381BF08BC0E}"/>
              </a:ext>
            </a:extLst>
          </p:cNvPr>
          <p:cNvSpPr/>
          <p:nvPr/>
        </p:nvSpPr>
        <p:spPr>
          <a:xfrm>
            <a:off x="5812314" y="333704"/>
            <a:ext cx="533600" cy="2553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275B42A5-F5C5-04BB-A764-E902E9DA8B46}"/>
              </a:ext>
            </a:extLst>
          </p:cNvPr>
          <p:cNvSpPr/>
          <p:nvPr/>
        </p:nvSpPr>
        <p:spPr>
          <a:xfrm>
            <a:off x="6420434" y="336007"/>
            <a:ext cx="533600" cy="2553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6B0559C3-A40F-D8EA-655B-974896694450}"/>
              </a:ext>
            </a:extLst>
          </p:cNvPr>
          <p:cNvSpPr/>
          <p:nvPr/>
        </p:nvSpPr>
        <p:spPr>
          <a:xfrm>
            <a:off x="4535506" y="338304"/>
            <a:ext cx="533600" cy="2553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608E625D-BBAF-B8D0-0E8B-D62FC4362403}"/>
              </a:ext>
            </a:extLst>
          </p:cNvPr>
          <p:cNvSpPr/>
          <p:nvPr/>
        </p:nvSpPr>
        <p:spPr>
          <a:xfrm>
            <a:off x="9376303" y="581195"/>
            <a:ext cx="2066398" cy="11679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와이어 프레임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801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3E573-14CA-F534-6011-5E36A11AD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그룹 60">
            <a:extLst>
              <a:ext uri="{FF2B5EF4-FFF2-40B4-BE49-F238E27FC236}">
                <a16:creationId xmlns:a16="http://schemas.microsoft.com/office/drawing/2014/main" id="{87F89FCD-1994-D62D-2F28-4A57EC3F8458}"/>
              </a:ext>
            </a:extLst>
          </p:cNvPr>
          <p:cNvGrpSpPr/>
          <p:nvPr/>
        </p:nvGrpSpPr>
        <p:grpSpPr>
          <a:xfrm>
            <a:off x="325186" y="128015"/>
            <a:ext cx="7875459" cy="6673211"/>
            <a:chOff x="325186" y="128015"/>
            <a:chExt cx="7875459" cy="667321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F8BBD46A-F59B-856C-ED92-FFFAC889C5E4}"/>
                </a:ext>
              </a:extLst>
            </p:cNvPr>
            <p:cNvSpPr/>
            <p:nvPr/>
          </p:nvSpPr>
          <p:spPr>
            <a:xfrm>
              <a:off x="329184" y="128015"/>
              <a:ext cx="7871461" cy="66732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71934C40-BFCC-1DC1-9522-66BF84952A32}"/>
                </a:ext>
              </a:extLst>
            </p:cNvPr>
            <p:cNvSpPr/>
            <p:nvPr/>
          </p:nvSpPr>
          <p:spPr>
            <a:xfrm>
              <a:off x="1504842" y="386054"/>
              <a:ext cx="1313928" cy="5297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Logo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0BAED85D-AD08-7EA7-A3D2-39336B7F5EAD}"/>
                </a:ext>
              </a:extLst>
            </p:cNvPr>
            <p:cNvSpPr/>
            <p:nvPr/>
          </p:nvSpPr>
          <p:spPr>
            <a:xfrm>
              <a:off x="1503638" y="5910909"/>
              <a:ext cx="5450396" cy="3510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/>
                  </a:solidFill>
                </a:rPr>
                <a:t>개인정보처리방침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경영공시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고객정보취급방침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보호금융상품등록부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상품공시실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전자민원접수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</a:p>
            <a:p>
              <a:r>
                <a:rPr lang="ko-KR" altLang="en-US" sz="800" dirty="0" err="1">
                  <a:solidFill>
                    <a:schemeClr val="tx1"/>
                  </a:solidFill>
                </a:rPr>
                <a:t>전자금융이용자보호수칙</a:t>
              </a:r>
              <a:r>
                <a:rPr lang="ko-KR" altLang="en-US" sz="800" dirty="0">
                  <a:solidFill>
                    <a:schemeClr val="tx1"/>
                  </a:solidFill>
                </a:rPr>
                <a:t>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 err="1">
                  <a:solidFill>
                    <a:schemeClr val="tx1"/>
                  </a:solidFill>
                </a:rPr>
                <a:t>전자금융사기피해금환급제도</a:t>
              </a:r>
              <a:r>
                <a:rPr lang="ko-KR" altLang="en-US" sz="800" dirty="0">
                  <a:solidFill>
                    <a:schemeClr val="tx1"/>
                  </a:solidFill>
                </a:rPr>
                <a:t>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위치기반서비스 이용약관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FDC07717-D43C-4B91-35DF-CA9AC9298E85}"/>
                </a:ext>
              </a:extLst>
            </p:cNvPr>
            <p:cNvSpPr/>
            <p:nvPr/>
          </p:nvSpPr>
          <p:spPr>
            <a:xfrm>
              <a:off x="3483996" y="707887"/>
              <a:ext cx="2096749" cy="256157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 err="1">
                  <a:solidFill>
                    <a:schemeClr val="tx1"/>
                  </a:solidFill>
                </a:rPr>
                <a:t>개인뱅킹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   </a:t>
              </a:r>
              <a:r>
                <a:rPr lang="ko-KR" altLang="en-US" sz="1000" b="1" dirty="0" err="1">
                  <a:solidFill>
                    <a:schemeClr val="tx1"/>
                  </a:solidFill>
                </a:rPr>
                <a:t>기업뱅킹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   금융상품 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023BCD70-D6A5-2A0E-7C41-2663217B8867}"/>
                </a:ext>
              </a:extLst>
            </p:cNvPr>
            <p:cNvSpPr/>
            <p:nvPr/>
          </p:nvSpPr>
          <p:spPr>
            <a:xfrm>
              <a:off x="1503638" y="6288425"/>
              <a:ext cx="2718708" cy="1777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>
                  <a:solidFill>
                    <a:schemeClr val="tx1"/>
                  </a:solidFill>
                </a:rPr>
                <a:t>고객상담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1588-6200, 1544-6200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BC262246-22A9-291D-1B30-CDBB28819211}"/>
                </a:ext>
              </a:extLst>
            </p:cNvPr>
            <p:cNvSpPr/>
            <p:nvPr/>
          </p:nvSpPr>
          <p:spPr>
            <a:xfrm>
              <a:off x="5415850" y="6375887"/>
              <a:ext cx="699200" cy="2989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BNK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금융</a:t>
              </a:r>
              <a:endParaRPr lang="en-US" altLang="ko-KR" sz="8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네트워크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2FAD6864-0602-EACF-5906-C05FA2F50451}"/>
                </a:ext>
              </a:extLst>
            </p:cNvPr>
            <p:cNvSpPr/>
            <p:nvPr/>
          </p:nvSpPr>
          <p:spPr>
            <a:xfrm>
              <a:off x="1506232" y="1293988"/>
              <a:ext cx="3991534" cy="13004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배너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ED84E48A-60AF-D96B-21A7-D174568AD296}"/>
                </a:ext>
              </a:extLst>
            </p:cNvPr>
            <p:cNvSpPr/>
            <p:nvPr/>
          </p:nvSpPr>
          <p:spPr>
            <a:xfrm>
              <a:off x="5866498" y="1749154"/>
              <a:ext cx="1087607" cy="3695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사고분실신고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4BB609FF-6D96-A981-C82A-714D24708E14}"/>
                </a:ext>
              </a:extLst>
            </p:cNvPr>
            <p:cNvSpPr/>
            <p:nvPr/>
          </p:nvSpPr>
          <p:spPr>
            <a:xfrm>
              <a:off x="1935760" y="2793408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8E919A21-0D7F-D223-E926-6012349B3287}"/>
                </a:ext>
              </a:extLst>
            </p:cNvPr>
            <p:cNvSpPr/>
            <p:nvPr/>
          </p:nvSpPr>
          <p:spPr>
            <a:xfrm>
              <a:off x="1504806" y="4007442"/>
              <a:ext cx="2441674" cy="1125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새 소식 게시판</a:t>
              </a:r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9E456BE9-0B65-BA6E-90C1-43B43E117FF6}"/>
                </a:ext>
              </a:extLst>
            </p:cNvPr>
            <p:cNvCxnSpPr>
              <a:cxnSpLocks/>
            </p:cNvCxnSpPr>
            <p:nvPr/>
          </p:nvCxnSpPr>
          <p:spPr>
            <a:xfrm>
              <a:off x="329184" y="1145188"/>
              <a:ext cx="787146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7DA26925-E987-7C30-1968-2C30F7407BB1}"/>
                </a:ext>
              </a:extLst>
            </p:cNvPr>
            <p:cNvSpPr/>
            <p:nvPr/>
          </p:nvSpPr>
          <p:spPr>
            <a:xfrm>
              <a:off x="4446236" y="4016589"/>
              <a:ext cx="2509353" cy="1125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이벤트 게시판</a:t>
              </a: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0BDB6FA3-6556-820F-2837-BB5CDAC68E08}"/>
                </a:ext>
              </a:extLst>
            </p:cNvPr>
            <p:cNvSpPr/>
            <p:nvPr/>
          </p:nvSpPr>
          <p:spPr>
            <a:xfrm>
              <a:off x="1505310" y="5286254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상품공시실</a:t>
              </a: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291A3290-1919-4705-50A8-23E458B73E14}"/>
                </a:ext>
              </a:extLst>
            </p:cNvPr>
            <p:cNvSpPr/>
            <p:nvPr/>
          </p:nvSpPr>
          <p:spPr>
            <a:xfrm>
              <a:off x="2416814" y="5286254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자료실</a:t>
              </a: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AE562828-F8E4-1FCB-4C23-93860AF448D6}"/>
                </a:ext>
              </a:extLst>
            </p:cNvPr>
            <p:cNvSpPr/>
            <p:nvPr/>
          </p:nvSpPr>
          <p:spPr>
            <a:xfrm>
              <a:off x="3310842" y="5286254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소비자보호</a:t>
              </a: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CAED4784-012E-65B0-447A-48801FC483E7}"/>
                </a:ext>
              </a:extLst>
            </p:cNvPr>
            <p:cNvSpPr/>
            <p:nvPr/>
          </p:nvSpPr>
          <p:spPr>
            <a:xfrm>
              <a:off x="4222346" y="5286254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고객센터</a:t>
              </a: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63E2250E-78F7-E143-A7AC-383001984D6D}"/>
                </a:ext>
              </a:extLst>
            </p:cNvPr>
            <p:cNvSpPr/>
            <p:nvPr/>
          </p:nvSpPr>
          <p:spPr>
            <a:xfrm>
              <a:off x="5204195" y="5295401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비교조회</a:t>
              </a:r>
              <a:endParaRPr lang="en-US" altLang="ko-KR" sz="800" dirty="0">
                <a:solidFill>
                  <a:schemeClr val="tx1"/>
                </a:solidFill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2F6C510B-8A61-F804-7C15-9ACD57E8F0D2}"/>
                </a:ext>
              </a:extLst>
            </p:cNvPr>
            <p:cNvSpPr/>
            <p:nvPr/>
          </p:nvSpPr>
          <p:spPr>
            <a:xfrm>
              <a:off x="6177171" y="5295401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서민금융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D73FD2B2-3B41-BEAA-336B-CEA6C46FAFC2}"/>
                </a:ext>
              </a:extLst>
            </p:cNvPr>
            <p:cNvSpPr/>
            <p:nvPr/>
          </p:nvSpPr>
          <p:spPr>
            <a:xfrm>
              <a:off x="5866496" y="2218361"/>
              <a:ext cx="1087607" cy="3695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금융소비자보호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A8A66761-FA47-3D45-3E63-95771CC09F32}"/>
                </a:ext>
              </a:extLst>
            </p:cNvPr>
            <p:cNvSpPr/>
            <p:nvPr/>
          </p:nvSpPr>
          <p:spPr>
            <a:xfrm>
              <a:off x="5868723" y="1288458"/>
              <a:ext cx="1087607" cy="3695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빠른조회서비스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7AB50AEC-41DB-0433-BCC3-E258148916B0}"/>
                </a:ext>
              </a:extLst>
            </p:cNvPr>
            <p:cNvSpPr/>
            <p:nvPr/>
          </p:nvSpPr>
          <p:spPr>
            <a:xfrm>
              <a:off x="6255496" y="6375886"/>
              <a:ext cx="631863" cy="2989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FAMILY</a:t>
              </a:r>
            </a:p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SITE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57A2A873-E8C9-BE51-BC22-799DFA31D103}"/>
                </a:ext>
              </a:extLst>
            </p:cNvPr>
            <p:cNvCxnSpPr>
              <a:cxnSpLocks/>
            </p:cNvCxnSpPr>
            <p:nvPr/>
          </p:nvCxnSpPr>
          <p:spPr>
            <a:xfrm>
              <a:off x="325186" y="5838851"/>
              <a:ext cx="787146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E8313722-9CF8-B722-148C-6D03B2329C9F}"/>
                </a:ext>
              </a:extLst>
            </p:cNvPr>
            <p:cNvSpPr/>
            <p:nvPr/>
          </p:nvSpPr>
          <p:spPr>
            <a:xfrm>
              <a:off x="4454024" y="326482"/>
              <a:ext cx="2490485" cy="2553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로그인 </a:t>
              </a:r>
              <a:r>
                <a:rPr lang="en-US" altLang="ko-KR" sz="1000" dirty="0">
                  <a:solidFill>
                    <a:schemeClr val="tx1"/>
                  </a:solidFill>
                </a:rPr>
                <a:t>| </a:t>
              </a:r>
              <a:r>
                <a:rPr lang="ko-KR" altLang="en-US" sz="1000" dirty="0">
                  <a:solidFill>
                    <a:schemeClr val="tx1"/>
                  </a:solidFill>
                </a:rPr>
                <a:t>인증센터 </a:t>
              </a:r>
              <a:r>
                <a:rPr lang="en-US" altLang="ko-KR" sz="1000" dirty="0">
                  <a:solidFill>
                    <a:schemeClr val="tx1"/>
                  </a:solidFill>
                </a:rPr>
                <a:t>| </a:t>
              </a:r>
              <a:r>
                <a:rPr lang="ko-KR" altLang="en-US" sz="1000" dirty="0">
                  <a:solidFill>
                    <a:schemeClr val="tx1"/>
                  </a:solidFill>
                </a:rPr>
                <a:t>은행소개 </a:t>
              </a:r>
              <a:r>
                <a:rPr lang="en-US" altLang="ko-KR" sz="1000" dirty="0">
                  <a:solidFill>
                    <a:schemeClr val="tx1"/>
                  </a:solidFill>
                </a:rPr>
                <a:t>| Global</a:t>
              </a:r>
              <a:r>
                <a:rPr lang="ko-KR" altLang="en-US" sz="1000" dirty="0">
                  <a:solidFill>
                    <a:schemeClr val="tx1"/>
                  </a:solidFill>
                </a:rPr>
                <a:t>▼</a:t>
              </a: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53CA108E-352D-DD10-087C-96ABC1657531}"/>
                </a:ext>
              </a:extLst>
            </p:cNvPr>
            <p:cNvSpPr/>
            <p:nvPr/>
          </p:nvSpPr>
          <p:spPr>
            <a:xfrm>
              <a:off x="6255496" y="747170"/>
              <a:ext cx="677874" cy="1488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전체메뉴</a:t>
              </a: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95E84E3F-E72A-E6F7-A33A-84F2B4F20AF8}"/>
                </a:ext>
              </a:extLst>
            </p:cNvPr>
            <p:cNvSpPr/>
            <p:nvPr/>
          </p:nvSpPr>
          <p:spPr>
            <a:xfrm>
              <a:off x="5526513" y="749724"/>
              <a:ext cx="677874" cy="1488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검색하기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8C67BEA-DBD3-89CD-2336-0ECB7A5AC10E}"/>
                </a:ext>
              </a:extLst>
            </p:cNvPr>
            <p:cNvSpPr/>
            <p:nvPr/>
          </p:nvSpPr>
          <p:spPr>
            <a:xfrm>
              <a:off x="2769117" y="2793408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2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19B23E8-2FA5-DF40-C9BD-D94568597C4D}"/>
                </a:ext>
              </a:extLst>
            </p:cNvPr>
            <p:cNvSpPr/>
            <p:nvPr/>
          </p:nvSpPr>
          <p:spPr>
            <a:xfrm>
              <a:off x="1935760" y="3316880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51694A5-65D8-503B-E0A3-A47425EAD694}"/>
                </a:ext>
              </a:extLst>
            </p:cNvPr>
            <p:cNvSpPr/>
            <p:nvPr/>
          </p:nvSpPr>
          <p:spPr>
            <a:xfrm>
              <a:off x="2769117" y="3316880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4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6D66DF9-AC39-6916-7BCD-D074798BF4CE}"/>
                </a:ext>
              </a:extLst>
            </p:cNvPr>
            <p:cNvSpPr/>
            <p:nvPr/>
          </p:nvSpPr>
          <p:spPr>
            <a:xfrm>
              <a:off x="4932108" y="2802110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6D31A57-FE83-9AD1-7BA0-A626FD601B5C}"/>
                </a:ext>
              </a:extLst>
            </p:cNvPr>
            <p:cNvSpPr/>
            <p:nvPr/>
          </p:nvSpPr>
          <p:spPr>
            <a:xfrm>
              <a:off x="5765465" y="2802110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2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48AAE7B-A316-48FA-AFB6-83EE70F97B23}"/>
                </a:ext>
              </a:extLst>
            </p:cNvPr>
            <p:cNvSpPr/>
            <p:nvPr/>
          </p:nvSpPr>
          <p:spPr>
            <a:xfrm>
              <a:off x="4932108" y="3325582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9584E93-E51C-2092-D90C-05CD5E7F1CF0}"/>
                </a:ext>
              </a:extLst>
            </p:cNvPr>
            <p:cNvSpPr/>
            <p:nvPr/>
          </p:nvSpPr>
          <p:spPr>
            <a:xfrm>
              <a:off x="5765465" y="3325582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4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C02CB84-5BBC-780F-0D9C-F1581EF2CCD5}"/>
                </a:ext>
              </a:extLst>
            </p:cNvPr>
            <p:cNvSpPr/>
            <p:nvPr/>
          </p:nvSpPr>
          <p:spPr>
            <a:xfrm>
              <a:off x="1503637" y="6524789"/>
              <a:ext cx="3700557" cy="1500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</a:rPr>
                <a:t>COPYRIGHT</a:t>
              </a:r>
              <a:r>
                <a:rPr lang="ko-KR" altLang="en-US" sz="1000" dirty="0">
                  <a:solidFill>
                    <a:schemeClr val="tx1"/>
                  </a:solidFill>
                </a:rPr>
                <a:t>ⓒ</a:t>
              </a:r>
              <a:r>
                <a:rPr lang="en-US" altLang="ko-KR" sz="1000" dirty="0">
                  <a:solidFill>
                    <a:schemeClr val="tx1"/>
                  </a:solidFill>
                </a:rPr>
                <a:t>2014 BUSANBANK  ALL RIGHTS RESERVED.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B9460A1-6DBB-2590-F742-50F5FAF1D8D0}"/>
              </a:ext>
            </a:extLst>
          </p:cNvPr>
          <p:cNvSpPr/>
          <p:nvPr/>
        </p:nvSpPr>
        <p:spPr>
          <a:xfrm>
            <a:off x="1248155" y="57150"/>
            <a:ext cx="5967153" cy="68008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87F0F44-1608-94E9-CA1B-23B1D1D6C327}"/>
              </a:ext>
            </a:extLst>
          </p:cNvPr>
          <p:cNvSpPr/>
          <p:nvPr/>
        </p:nvSpPr>
        <p:spPr>
          <a:xfrm>
            <a:off x="329184" y="53475"/>
            <a:ext cx="918971" cy="3564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body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178" name="표 177">
            <a:extLst>
              <a:ext uri="{FF2B5EF4-FFF2-40B4-BE49-F238E27FC236}">
                <a16:creationId xmlns:a16="http://schemas.microsoft.com/office/drawing/2014/main" id="{F65A7A53-FF18-5A4D-1983-4EE61F108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467386"/>
              </p:ext>
            </p:extLst>
          </p:nvPr>
        </p:nvGraphicFramePr>
        <p:xfrm>
          <a:off x="8403899" y="131052"/>
          <a:ext cx="3439867" cy="66701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1013">
                  <a:extLst>
                    <a:ext uri="{9D8B030D-6E8A-4147-A177-3AD203B41FA5}">
                      <a16:colId xmlns:a16="http://schemas.microsoft.com/office/drawing/2014/main" val="1209635219"/>
                    </a:ext>
                  </a:extLst>
                </a:gridCol>
                <a:gridCol w="2478854">
                  <a:extLst>
                    <a:ext uri="{9D8B030D-6E8A-4147-A177-3AD203B41FA5}">
                      <a16:colId xmlns:a16="http://schemas.microsoft.com/office/drawing/2014/main" val="2414493118"/>
                    </a:ext>
                  </a:extLst>
                </a:gridCol>
              </a:tblGrid>
              <a:tr h="417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프로젝트명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BNK </a:t>
                      </a:r>
                      <a:r>
                        <a:rPr lang="ko-KR" altLang="en-US" sz="1100" dirty="0"/>
                        <a:t>웹페이지 리뉴얼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1774899"/>
                  </a:ext>
                </a:extLst>
              </a:tr>
              <a:tr h="4172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화면 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메인 화면</a:t>
                      </a:r>
                      <a:endParaRPr lang="en-US" altLang="ko-KR" sz="11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831835"/>
                  </a:ext>
                </a:extLst>
              </a:tr>
              <a:tr h="417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사용주체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Header</a:t>
                      </a:r>
                      <a:r>
                        <a:rPr lang="ko-KR" altLang="en-US" sz="1100" dirty="0"/>
                        <a:t> 부분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4449978"/>
                  </a:ext>
                </a:extLst>
              </a:tr>
              <a:tr h="411814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/>
                        <a:t>Description (</a:t>
                      </a:r>
                      <a:r>
                        <a:rPr lang="ko-KR" altLang="en-US" sz="1100" dirty="0"/>
                        <a:t>화면 설명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840105"/>
                  </a:ext>
                </a:extLst>
              </a:tr>
              <a:tr h="5006688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100" b="1" dirty="0"/>
                        <a:t>[</a:t>
                      </a:r>
                      <a:r>
                        <a:rPr lang="ko-KR" altLang="en-US" sz="1100" b="1" dirty="0" err="1"/>
                        <a:t>메인화면</a:t>
                      </a:r>
                      <a:r>
                        <a:rPr lang="ko-KR" altLang="en-US" sz="1100" b="1" dirty="0"/>
                        <a:t> </a:t>
                      </a:r>
                      <a:r>
                        <a:rPr lang="en-US" altLang="ko-KR" sz="1100" b="1" dirty="0"/>
                        <a:t>– Header</a:t>
                      </a:r>
                      <a:r>
                        <a:rPr lang="ko-KR" altLang="en-US" sz="1100" b="1" dirty="0"/>
                        <a:t> 기능</a:t>
                      </a:r>
                      <a:r>
                        <a:rPr lang="en-US" altLang="ko-KR" sz="1100" b="1" dirty="0"/>
                        <a:t>]</a:t>
                      </a:r>
                    </a:p>
                    <a:p>
                      <a:pPr algn="l" latinLnBrk="1"/>
                      <a:endParaRPr lang="en-US" altLang="ko-KR" sz="1100" dirty="0"/>
                    </a:p>
                    <a:p>
                      <a:pPr algn="l" latinLnBrk="1"/>
                      <a:r>
                        <a:rPr lang="en-US" altLang="ko-KR" sz="1100" dirty="0"/>
                        <a:t>#. body</a:t>
                      </a: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가로 넓이는 모두 </a:t>
                      </a:r>
                      <a:r>
                        <a:rPr lang="en-US" altLang="ko-KR" sz="1100" dirty="0"/>
                        <a:t>1000px</a:t>
                      </a:r>
                      <a:r>
                        <a:rPr lang="ko-KR" altLang="en-US" sz="1100" dirty="0"/>
                        <a:t>로 고정</a:t>
                      </a:r>
                      <a:endParaRPr lang="en-US" altLang="ko-KR" sz="11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727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4511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8C9D9-D5BB-3D0E-406A-706AE02A1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그룹 60">
            <a:extLst>
              <a:ext uri="{FF2B5EF4-FFF2-40B4-BE49-F238E27FC236}">
                <a16:creationId xmlns:a16="http://schemas.microsoft.com/office/drawing/2014/main" id="{DACA8677-57C1-A7C8-C6C7-04FBEFCBAD2F}"/>
              </a:ext>
            </a:extLst>
          </p:cNvPr>
          <p:cNvGrpSpPr/>
          <p:nvPr/>
        </p:nvGrpSpPr>
        <p:grpSpPr>
          <a:xfrm>
            <a:off x="325186" y="128015"/>
            <a:ext cx="7875459" cy="6673211"/>
            <a:chOff x="325186" y="128015"/>
            <a:chExt cx="7875459" cy="667321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51B8F51-AFA4-6671-61ED-0A5DC03F4AFD}"/>
                </a:ext>
              </a:extLst>
            </p:cNvPr>
            <p:cNvSpPr/>
            <p:nvPr/>
          </p:nvSpPr>
          <p:spPr>
            <a:xfrm>
              <a:off x="329184" y="128015"/>
              <a:ext cx="7871461" cy="66732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7E411AC-A529-6563-AC4C-3E4E8C6C1BE4}"/>
                </a:ext>
              </a:extLst>
            </p:cNvPr>
            <p:cNvSpPr/>
            <p:nvPr/>
          </p:nvSpPr>
          <p:spPr>
            <a:xfrm>
              <a:off x="1504842" y="386054"/>
              <a:ext cx="1313928" cy="5297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Logo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09CBA160-30FC-08EC-FB13-2F1266089CD4}"/>
                </a:ext>
              </a:extLst>
            </p:cNvPr>
            <p:cNvSpPr/>
            <p:nvPr/>
          </p:nvSpPr>
          <p:spPr>
            <a:xfrm>
              <a:off x="1503638" y="5910909"/>
              <a:ext cx="5450396" cy="3510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/>
                  </a:solidFill>
                </a:rPr>
                <a:t>개인정보처리방침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경영공시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고객정보취급방침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보호금융상품등록부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상품공시실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전자민원접수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</a:p>
            <a:p>
              <a:r>
                <a:rPr lang="ko-KR" altLang="en-US" sz="800" dirty="0" err="1">
                  <a:solidFill>
                    <a:schemeClr val="tx1"/>
                  </a:solidFill>
                </a:rPr>
                <a:t>전자금융이용자보호수칙</a:t>
              </a:r>
              <a:r>
                <a:rPr lang="ko-KR" altLang="en-US" sz="800" dirty="0">
                  <a:solidFill>
                    <a:schemeClr val="tx1"/>
                  </a:solidFill>
                </a:rPr>
                <a:t>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 err="1">
                  <a:solidFill>
                    <a:schemeClr val="tx1"/>
                  </a:solidFill>
                </a:rPr>
                <a:t>전자금융사기피해금환급제도</a:t>
              </a:r>
              <a:r>
                <a:rPr lang="ko-KR" altLang="en-US" sz="800" dirty="0">
                  <a:solidFill>
                    <a:schemeClr val="tx1"/>
                  </a:solidFill>
                </a:rPr>
                <a:t>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위치기반서비스 이용약관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1CBD280A-2A14-D4DD-96EA-A42CBA4BBA9D}"/>
                </a:ext>
              </a:extLst>
            </p:cNvPr>
            <p:cNvSpPr/>
            <p:nvPr/>
          </p:nvSpPr>
          <p:spPr>
            <a:xfrm>
              <a:off x="3483996" y="707887"/>
              <a:ext cx="2096749" cy="256157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 err="1">
                  <a:solidFill>
                    <a:schemeClr val="tx1"/>
                  </a:solidFill>
                </a:rPr>
                <a:t>개인뱅킹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   </a:t>
              </a:r>
              <a:r>
                <a:rPr lang="ko-KR" altLang="en-US" sz="1000" b="1" dirty="0" err="1">
                  <a:solidFill>
                    <a:schemeClr val="tx1"/>
                  </a:solidFill>
                </a:rPr>
                <a:t>기업뱅킹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   금융상품 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5E3DD2D4-1C30-DCA7-B196-ADC7999D6D77}"/>
                </a:ext>
              </a:extLst>
            </p:cNvPr>
            <p:cNvSpPr/>
            <p:nvPr/>
          </p:nvSpPr>
          <p:spPr>
            <a:xfrm>
              <a:off x="1503638" y="6288425"/>
              <a:ext cx="2718708" cy="1777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>
                  <a:solidFill>
                    <a:schemeClr val="tx1"/>
                  </a:solidFill>
                </a:rPr>
                <a:t>고객상담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1588-6200, 1544-6200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ACBD5946-4E69-607B-03A3-A09569DD991A}"/>
                </a:ext>
              </a:extLst>
            </p:cNvPr>
            <p:cNvSpPr/>
            <p:nvPr/>
          </p:nvSpPr>
          <p:spPr>
            <a:xfrm>
              <a:off x="5415850" y="6375887"/>
              <a:ext cx="699200" cy="2989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BNK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금융</a:t>
              </a:r>
              <a:endParaRPr lang="en-US" altLang="ko-KR" sz="8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네트워크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093AC538-3C07-3161-44D5-0FD4D657AA68}"/>
                </a:ext>
              </a:extLst>
            </p:cNvPr>
            <p:cNvSpPr/>
            <p:nvPr/>
          </p:nvSpPr>
          <p:spPr>
            <a:xfrm>
              <a:off x="1506232" y="1293988"/>
              <a:ext cx="3991534" cy="13004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배너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2A507151-9651-E468-1229-A4D88B623765}"/>
                </a:ext>
              </a:extLst>
            </p:cNvPr>
            <p:cNvSpPr/>
            <p:nvPr/>
          </p:nvSpPr>
          <p:spPr>
            <a:xfrm>
              <a:off x="5866498" y="1749154"/>
              <a:ext cx="1087607" cy="3695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사고분실신고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1542C4CA-F6F7-DC46-C61D-6DB043655FEC}"/>
                </a:ext>
              </a:extLst>
            </p:cNvPr>
            <p:cNvSpPr/>
            <p:nvPr/>
          </p:nvSpPr>
          <p:spPr>
            <a:xfrm>
              <a:off x="1935760" y="2793408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5DFDF302-A0E3-A938-87D4-212FDAB791B3}"/>
                </a:ext>
              </a:extLst>
            </p:cNvPr>
            <p:cNvSpPr/>
            <p:nvPr/>
          </p:nvSpPr>
          <p:spPr>
            <a:xfrm>
              <a:off x="1504806" y="4007442"/>
              <a:ext cx="2441674" cy="1125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새 소식 게시판</a:t>
              </a:r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62AA9490-F696-9A39-051F-59753B493AEE}"/>
                </a:ext>
              </a:extLst>
            </p:cNvPr>
            <p:cNvCxnSpPr>
              <a:cxnSpLocks/>
            </p:cNvCxnSpPr>
            <p:nvPr/>
          </p:nvCxnSpPr>
          <p:spPr>
            <a:xfrm>
              <a:off x="329184" y="1145188"/>
              <a:ext cx="787146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1E418037-0F15-D270-E78B-1A3C0320FA63}"/>
                </a:ext>
              </a:extLst>
            </p:cNvPr>
            <p:cNvSpPr/>
            <p:nvPr/>
          </p:nvSpPr>
          <p:spPr>
            <a:xfrm>
              <a:off x="4446236" y="4016589"/>
              <a:ext cx="2509353" cy="1125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이벤트 게시판</a:t>
              </a: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A0EEF1F8-4EEC-90E8-E956-42E92E7370DF}"/>
                </a:ext>
              </a:extLst>
            </p:cNvPr>
            <p:cNvSpPr/>
            <p:nvPr/>
          </p:nvSpPr>
          <p:spPr>
            <a:xfrm>
              <a:off x="1505310" y="5286254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상품공시실</a:t>
              </a: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4F4FC9B-5008-30EE-068F-C4EFBECD92FF}"/>
                </a:ext>
              </a:extLst>
            </p:cNvPr>
            <p:cNvSpPr/>
            <p:nvPr/>
          </p:nvSpPr>
          <p:spPr>
            <a:xfrm>
              <a:off x="2416814" y="5286254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자료실</a:t>
              </a: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C5B1C16C-5FD6-67D2-8D89-7E7D873C2C8F}"/>
                </a:ext>
              </a:extLst>
            </p:cNvPr>
            <p:cNvSpPr/>
            <p:nvPr/>
          </p:nvSpPr>
          <p:spPr>
            <a:xfrm>
              <a:off x="3310842" y="5286254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소비자보호</a:t>
              </a: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9734F9E3-E07A-E775-B601-F2B7BB96942C}"/>
                </a:ext>
              </a:extLst>
            </p:cNvPr>
            <p:cNvSpPr/>
            <p:nvPr/>
          </p:nvSpPr>
          <p:spPr>
            <a:xfrm>
              <a:off x="4222346" y="5286254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고객센터</a:t>
              </a: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AAF9CBFE-F4D4-6C8A-CB07-903627C4D6A2}"/>
                </a:ext>
              </a:extLst>
            </p:cNvPr>
            <p:cNvSpPr/>
            <p:nvPr/>
          </p:nvSpPr>
          <p:spPr>
            <a:xfrm>
              <a:off x="5204195" y="5295401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비교조회</a:t>
              </a:r>
              <a:endParaRPr lang="en-US" altLang="ko-KR" sz="800" dirty="0">
                <a:solidFill>
                  <a:schemeClr val="tx1"/>
                </a:solidFill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79FE7AFB-CC08-6A3F-77E7-5A0AA70958CF}"/>
                </a:ext>
              </a:extLst>
            </p:cNvPr>
            <p:cNvSpPr/>
            <p:nvPr/>
          </p:nvSpPr>
          <p:spPr>
            <a:xfrm>
              <a:off x="6177171" y="5295401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서민금융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D6974C4-8863-4F9B-852F-AD3147A32015}"/>
                </a:ext>
              </a:extLst>
            </p:cNvPr>
            <p:cNvSpPr/>
            <p:nvPr/>
          </p:nvSpPr>
          <p:spPr>
            <a:xfrm>
              <a:off x="5866496" y="2218361"/>
              <a:ext cx="1087607" cy="3695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금융소비자보호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4133C77-D83B-A3B8-6A52-F49828301DFC}"/>
                </a:ext>
              </a:extLst>
            </p:cNvPr>
            <p:cNvSpPr/>
            <p:nvPr/>
          </p:nvSpPr>
          <p:spPr>
            <a:xfrm>
              <a:off x="5868723" y="1288458"/>
              <a:ext cx="1087607" cy="3695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빠른조회서비스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896F14B-1F13-9AF5-1A40-19295CD1BF42}"/>
                </a:ext>
              </a:extLst>
            </p:cNvPr>
            <p:cNvSpPr/>
            <p:nvPr/>
          </p:nvSpPr>
          <p:spPr>
            <a:xfrm>
              <a:off x="6255496" y="6375886"/>
              <a:ext cx="631863" cy="2989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FAMILY</a:t>
              </a:r>
            </a:p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SITE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E4E99FA9-10CD-2F10-DABF-A503D2C49C5F}"/>
                </a:ext>
              </a:extLst>
            </p:cNvPr>
            <p:cNvCxnSpPr>
              <a:cxnSpLocks/>
            </p:cNvCxnSpPr>
            <p:nvPr/>
          </p:nvCxnSpPr>
          <p:spPr>
            <a:xfrm>
              <a:off x="325186" y="5838851"/>
              <a:ext cx="787146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EAF3EDC1-7378-1180-984C-F7C4243C7465}"/>
                </a:ext>
              </a:extLst>
            </p:cNvPr>
            <p:cNvSpPr/>
            <p:nvPr/>
          </p:nvSpPr>
          <p:spPr>
            <a:xfrm>
              <a:off x="4454024" y="326482"/>
              <a:ext cx="2490485" cy="2553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로그인 </a:t>
              </a:r>
              <a:r>
                <a:rPr lang="en-US" altLang="ko-KR" sz="1000" dirty="0">
                  <a:solidFill>
                    <a:schemeClr val="tx1"/>
                  </a:solidFill>
                </a:rPr>
                <a:t>| </a:t>
              </a:r>
              <a:r>
                <a:rPr lang="ko-KR" altLang="en-US" sz="1000" dirty="0">
                  <a:solidFill>
                    <a:schemeClr val="tx1"/>
                  </a:solidFill>
                </a:rPr>
                <a:t>인증센터 </a:t>
              </a:r>
              <a:r>
                <a:rPr lang="en-US" altLang="ko-KR" sz="1000" dirty="0">
                  <a:solidFill>
                    <a:schemeClr val="tx1"/>
                  </a:solidFill>
                </a:rPr>
                <a:t>| </a:t>
              </a:r>
              <a:r>
                <a:rPr lang="ko-KR" altLang="en-US" sz="1000" dirty="0">
                  <a:solidFill>
                    <a:schemeClr val="tx1"/>
                  </a:solidFill>
                </a:rPr>
                <a:t>은행소개 </a:t>
              </a:r>
              <a:r>
                <a:rPr lang="en-US" altLang="ko-KR" sz="1000" dirty="0">
                  <a:solidFill>
                    <a:schemeClr val="tx1"/>
                  </a:solidFill>
                </a:rPr>
                <a:t>| Global</a:t>
              </a:r>
              <a:r>
                <a:rPr lang="ko-KR" altLang="en-US" sz="1000" dirty="0">
                  <a:solidFill>
                    <a:schemeClr val="tx1"/>
                  </a:solidFill>
                </a:rPr>
                <a:t>▼</a:t>
              </a: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2AD8FB01-0C8D-2FD5-B709-37393B418D81}"/>
                </a:ext>
              </a:extLst>
            </p:cNvPr>
            <p:cNvSpPr/>
            <p:nvPr/>
          </p:nvSpPr>
          <p:spPr>
            <a:xfrm>
              <a:off x="6255496" y="747170"/>
              <a:ext cx="677874" cy="1488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전체메뉴</a:t>
              </a: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BBCD539D-7355-4D3D-F8CA-7748BD0EBCE2}"/>
                </a:ext>
              </a:extLst>
            </p:cNvPr>
            <p:cNvSpPr/>
            <p:nvPr/>
          </p:nvSpPr>
          <p:spPr>
            <a:xfrm>
              <a:off x="5526513" y="749724"/>
              <a:ext cx="677874" cy="1488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검색하기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D83F12E-5742-3A45-A064-C03962C0D704}"/>
                </a:ext>
              </a:extLst>
            </p:cNvPr>
            <p:cNvSpPr/>
            <p:nvPr/>
          </p:nvSpPr>
          <p:spPr>
            <a:xfrm>
              <a:off x="2769117" y="2793408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2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CA78AD7A-6814-24F2-5F75-0D52419F698D}"/>
                </a:ext>
              </a:extLst>
            </p:cNvPr>
            <p:cNvSpPr/>
            <p:nvPr/>
          </p:nvSpPr>
          <p:spPr>
            <a:xfrm>
              <a:off x="1935760" y="3316880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193E5C0-3648-F3F3-D679-102B2A9AFFA0}"/>
                </a:ext>
              </a:extLst>
            </p:cNvPr>
            <p:cNvSpPr/>
            <p:nvPr/>
          </p:nvSpPr>
          <p:spPr>
            <a:xfrm>
              <a:off x="2769117" y="3316880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4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4C0B49F-BE8B-329A-D663-2620DB884F00}"/>
                </a:ext>
              </a:extLst>
            </p:cNvPr>
            <p:cNvSpPr/>
            <p:nvPr/>
          </p:nvSpPr>
          <p:spPr>
            <a:xfrm>
              <a:off x="4932108" y="2802110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420080D-1C55-712B-1959-4930987347E3}"/>
                </a:ext>
              </a:extLst>
            </p:cNvPr>
            <p:cNvSpPr/>
            <p:nvPr/>
          </p:nvSpPr>
          <p:spPr>
            <a:xfrm>
              <a:off x="5765465" y="2802110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2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6746038-7242-B724-2C67-AA623BFCD294}"/>
                </a:ext>
              </a:extLst>
            </p:cNvPr>
            <p:cNvSpPr/>
            <p:nvPr/>
          </p:nvSpPr>
          <p:spPr>
            <a:xfrm>
              <a:off x="4932108" y="3325582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BDDFDCA-D2A5-E3A1-3A8F-7814CC6C0E4A}"/>
                </a:ext>
              </a:extLst>
            </p:cNvPr>
            <p:cNvSpPr/>
            <p:nvPr/>
          </p:nvSpPr>
          <p:spPr>
            <a:xfrm>
              <a:off x="5765465" y="3325582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4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1DD391A-5FCA-8EEA-406B-5846CE1C6F2D}"/>
                </a:ext>
              </a:extLst>
            </p:cNvPr>
            <p:cNvSpPr/>
            <p:nvPr/>
          </p:nvSpPr>
          <p:spPr>
            <a:xfrm>
              <a:off x="1503637" y="6524789"/>
              <a:ext cx="3700557" cy="1500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</a:rPr>
                <a:t>COPYRIGHT</a:t>
              </a:r>
              <a:r>
                <a:rPr lang="ko-KR" altLang="en-US" sz="1000" dirty="0">
                  <a:solidFill>
                    <a:schemeClr val="tx1"/>
                  </a:solidFill>
                </a:rPr>
                <a:t>ⓒ</a:t>
              </a:r>
              <a:r>
                <a:rPr lang="en-US" altLang="ko-KR" sz="1000" dirty="0">
                  <a:solidFill>
                    <a:schemeClr val="tx1"/>
                  </a:solidFill>
                </a:rPr>
                <a:t>2014 BUSANBANK  ALL RIGHTS RESERVED.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37" name="타원 36">
            <a:extLst>
              <a:ext uri="{FF2B5EF4-FFF2-40B4-BE49-F238E27FC236}">
                <a16:creationId xmlns:a16="http://schemas.microsoft.com/office/drawing/2014/main" id="{D7FE46CF-0F5C-E609-D84D-A95A867FBAE1}"/>
              </a:ext>
            </a:extLst>
          </p:cNvPr>
          <p:cNvSpPr/>
          <p:nvPr/>
        </p:nvSpPr>
        <p:spPr>
          <a:xfrm>
            <a:off x="1195992" y="623615"/>
            <a:ext cx="144000" cy="144000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62BBB05E-046C-6753-6316-0666F3155DAC}"/>
              </a:ext>
            </a:extLst>
          </p:cNvPr>
          <p:cNvSpPr/>
          <p:nvPr/>
        </p:nvSpPr>
        <p:spPr>
          <a:xfrm>
            <a:off x="4343604" y="361822"/>
            <a:ext cx="144000" cy="144000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2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E1451E6F-4878-52EE-682D-078ABAFFE06E}"/>
              </a:ext>
            </a:extLst>
          </p:cNvPr>
          <p:cNvSpPr/>
          <p:nvPr/>
        </p:nvSpPr>
        <p:spPr>
          <a:xfrm>
            <a:off x="257175" y="57151"/>
            <a:ext cx="8039100" cy="11727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99DFDA4-779D-F615-08DE-888FEAA4A1C8}"/>
              </a:ext>
            </a:extLst>
          </p:cNvPr>
          <p:cNvSpPr/>
          <p:nvPr/>
        </p:nvSpPr>
        <p:spPr>
          <a:xfrm>
            <a:off x="252603" y="59803"/>
            <a:ext cx="918971" cy="3564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header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178" name="표 177">
            <a:extLst>
              <a:ext uri="{FF2B5EF4-FFF2-40B4-BE49-F238E27FC236}">
                <a16:creationId xmlns:a16="http://schemas.microsoft.com/office/drawing/2014/main" id="{9B61C4FE-6EBE-E72E-B2B7-FE05C8425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478747"/>
              </p:ext>
            </p:extLst>
          </p:nvPr>
        </p:nvGraphicFramePr>
        <p:xfrm>
          <a:off x="8403899" y="131052"/>
          <a:ext cx="3439867" cy="66701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1013">
                  <a:extLst>
                    <a:ext uri="{9D8B030D-6E8A-4147-A177-3AD203B41FA5}">
                      <a16:colId xmlns:a16="http://schemas.microsoft.com/office/drawing/2014/main" val="1209635219"/>
                    </a:ext>
                  </a:extLst>
                </a:gridCol>
                <a:gridCol w="2478854">
                  <a:extLst>
                    <a:ext uri="{9D8B030D-6E8A-4147-A177-3AD203B41FA5}">
                      <a16:colId xmlns:a16="http://schemas.microsoft.com/office/drawing/2014/main" val="2414493118"/>
                    </a:ext>
                  </a:extLst>
                </a:gridCol>
              </a:tblGrid>
              <a:tr h="417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프로젝트명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BNK </a:t>
                      </a:r>
                      <a:r>
                        <a:rPr lang="ko-KR" altLang="en-US" sz="1100" dirty="0"/>
                        <a:t>웹페이지 리뉴얼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1774899"/>
                  </a:ext>
                </a:extLst>
              </a:tr>
              <a:tr h="4172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화면 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메인 화면</a:t>
                      </a:r>
                      <a:endParaRPr lang="en-US" altLang="ko-KR" sz="11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831835"/>
                  </a:ext>
                </a:extLst>
              </a:tr>
              <a:tr h="417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사용주체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Header</a:t>
                      </a:r>
                      <a:r>
                        <a:rPr lang="ko-KR" altLang="en-US" sz="1100" dirty="0"/>
                        <a:t> 부분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4449978"/>
                  </a:ext>
                </a:extLst>
              </a:tr>
              <a:tr h="411814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/>
                        <a:t>Description (</a:t>
                      </a:r>
                      <a:r>
                        <a:rPr lang="ko-KR" altLang="en-US" sz="1100" dirty="0"/>
                        <a:t>화면 설명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840105"/>
                  </a:ext>
                </a:extLst>
              </a:tr>
              <a:tr h="5006688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100" b="1" dirty="0"/>
                        <a:t>[</a:t>
                      </a:r>
                      <a:r>
                        <a:rPr lang="ko-KR" altLang="en-US" sz="1100" b="1" dirty="0" err="1"/>
                        <a:t>메인화면</a:t>
                      </a:r>
                      <a:r>
                        <a:rPr lang="ko-KR" altLang="en-US" sz="1100" b="1" dirty="0"/>
                        <a:t> </a:t>
                      </a:r>
                      <a:r>
                        <a:rPr lang="en-US" altLang="ko-KR" sz="1100" b="1" dirty="0"/>
                        <a:t>– Header</a:t>
                      </a:r>
                      <a:r>
                        <a:rPr lang="ko-KR" altLang="en-US" sz="1100" b="1" dirty="0"/>
                        <a:t> 기능</a:t>
                      </a:r>
                      <a:r>
                        <a:rPr lang="en-US" altLang="ko-KR" sz="1100" b="1" dirty="0"/>
                        <a:t>]</a:t>
                      </a:r>
                    </a:p>
                    <a:p>
                      <a:pPr algn="l" latinLnBrk="1"/>
                      <a:endParaRPr lang="en-US" altLang="ko-KR" sz="1100" dirty="0"/>
                    </a:p>
                    <a:p>
                      <a:pPr algn="l" latinLnBrk="1"/>
                      <a:r>
                        <a:rPr lang="en-US" altLang="ko-KR" sz="1100" dirty="0"/>
                        <a:t>#. header</a:t>
                      </a:r>
                    </a:p>
                    <a:p>
                      <a:pPr algn="l" latinLnBrk="1"/>
                      <a:r>
                        <a:rPr lang="en-US" altLang="ko-KR" sz="1100" dirty="0"/>
                        <a:t>- Header</a:t>
                      </a:r>
                      <a:r>
                        <a:rPr lang="ko-KR" altLang="en-US" sz="1100" dirty="0"/>
                        <a:t>의 상단은 아래로 </a:t>
                      </a:r>
                      <a:r>
                        <a:rPr lang="en-US" altLang="ko-KR" sz="1100" dirty="0"/>
                        <a:t>50px </a:t>
                      </a:r>
                      <a:r>
                        <a:rPr lang="ko-KR" altLang="en-US" sz="1100" dirty="0"/>
                        <a:t>띄어 둠</a:t>
                      </a:r>
                      <a:endParaRPr lang="en-US" altLang="ko-KR" sz="1100" dirty="0"/>
                    </a:p>
                    <a:p>
                      <a:pPr algn="l" latinLnBrk="1"/>
                      <a:endParaRPr lang="en-US" altLang="ko-KR" sz="1100" dirty="0"/>
                    </a:p>
                    <a:p>
                      <a:pPr algn="l" latinLnBrk="1"/>
                      <a:r>
                        <a:rPr lang="en-US" altLang="ko-KR" sz="1100" dirty="0"/>
                        <a:t>#1. </a:t>
                      </a:r>
                      <a:r>
                        <a:rPr lang="ko-KR" altLang="en-US" sz="1100" dirty="0"/>
                        <a:t>로고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en-US" altLang="ko-KR" sz="1100" dirty="0"/>
                        <a:t>BNK</a:t>
                      </a:r>
                      <a:r>
                        <a:rPr lang="ko-KR" altLang="en-US" sz="1100" dirty="0"/>
                        <a:t> 부산은행 로고 이미지의 좌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우에 갈매기 이미지추가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갈매기 이미지의 크기는 로고 이미지와 높이의 </a:t>
                      </a:r>
                      <a:r>
                        <a:rPr lang="en-US" altLang="ko-KR" sz="1100" dirty="0"/>
                        <a:t>½ </a:t>
                      </a:r>
                      <a:r>
                        <a:rPr lang="ko-KR" altLang="en-US" sz="1100" dirty="0"/>
                        <a:t>크기 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로고를 클릭 시 메인 화면으로 이동</a:t>
                      </a:r>
                      <a:endParaRPr lang="en-US" altLang="ko-KR" sz="1100" dirty="0"/>
                    </a:p>
                    <a:p>
                      <a:pPr marL="0" indent="0" algn="l" latinLnBrk="1">
                        <a:buFontTx/>
                        <a:buNone/>
                      </a:pPr>
                      <a:endParaRPr lang="en-US" altLang="ko-KR" sz="11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100" dirty="0"/>
                        <a:t>#2-1. </a:t>
                      </a:r>
                      <a:r>
                        <a:rPr lang="ko-KR" altLang="en-US" sz="1100" dirty="0"/>
                        <a:t>로그인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클릭 시 로그인 페이지로 이동</a:t>
                      </a:r>
                      <a:endParaRPr lang="en-US" altLang="ko-KR" sz="1100" dirty="0"/>
                    </a:p>
                    <a:p>
                      <a:pPr marL="0" indent="0" algn="l" latinLnBrk="1">
                        <a:buFontTx/>
                        <a:buNone/>
                      </a:pPr>
                      <a:endParaRPr lang="en-US" altLang="ko-KR" sz="11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#2-2. </a:t>
                      </a:r>
                      <a:r>
                        <a:rPr lang="ko-KR" altLang="en-US" sz="1100" dirty="0"/>
                        <a:t>인증센터</a:t>
                      </a:r>
                      <a:endParaRPr lang="en-US" altLang="ko-KR" sz="11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100" dirty="0"/>
                        <a:t>클릭 시 인증센터 페이지로 이동</a:t>
                      </a:r>
                      <a:endParaRPr lang="en-US" altLang="ko-KR" sz="1100" dirty="0"/>
                    </a:p>
                    <a:p>
                      <a:pPr marL="0" indent="0" algn="l" latinLnBrk="1">
                        <a:buFontTx/>
                        <a:buNone/>
                      </a:pPr>
                      <a:endParaRPr lang="en-US" altLang="ko-KR" sz="11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#2-3.</a:t>
                      </a:r>
                      <a:r>
                        <a:rPr lang="ko-KR" altLang="en-US" sz="1100" dirty="0"/>
                        <a:t> 은행소개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클릭 시 은행 소개 페이지로 이동</a:t>
                      </a:r>
                      <a:endParaRPr lang="en-US" altLang="ko-KR" sz="1100" dirty="0"/>
                    </a:p>
                    <a:p>
                      <a:pPr marL="0" indent="0" algn="l" latinLnBrk="1">
                        <a:buFontTx/>
                        <a:buNone/>
                      </a:pPr>
                      <a:endParaRPr lang="en-US" altLang="ko-KR" sz="11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#2-4. Global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▼</a:t>
                      </a:r>
                      <a:endParaRPr lang="en-US" altLang="ko-KR" sz="11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100" dirty="0"/>
                        <a:t>마우스를 </a:t>
                      </a:r>
                      <a:r>
                        <a:rPr lang="en-US" altLang="ko-KR" sz="1100" dirty="0"/>
                        <a:t>(Global</a:t>
                      </a:r>
                      <a:r>
                        <a:rPr lang="ko-KR" altLang="en-US" sz="1100" dirty="0"/>
                        <a:t>위치에</a:t>
                      </a:r>
                      <a:r>
                        <a:rPr lang="en-US" altLang="ko-KR" sz="1100" dirty="0"/>
                        <a:t>) </a:t>
                      </a:r>
                      <a:r>
                        <a:rPr lang="ko-KR" altLang="en-US" sz="1100" dirty="0"/>
                        <a:t>올릴 시 언어선택 옵션을 수직으로</a:t>
                      </a:r>
                      <a:r>
                        <a:rPr lang="en-US" altLang="ko-KR" sz="1100" dirty="0"/>
                        <a:t>,</a:t>
                      </a:r>
                      <a:r>
                        <a:rPr lang="ko-KR" altLang="en-US" sz="1100" dirty="0"/>
                        <a:t> 드롭다운 형식으로 띄워 줌</a:t>
                      </a:r>
                      <a:endParaRPr lang="en-US" altLang="ko-KR" sz="11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100" dirty="0"/>
                        <a:t>언어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한국어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영어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일본어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중국어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100" dirty="0"/>
                        <a:t>언어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각 언어마다 옵션명을 그 나라의 언어로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endParaRPr lang="ko-KR" altLang="en-US" sz="11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727442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3142EA6D-C6EF-9360-CBC9-B86AAB6ABE92}"/>
              </a:ext>
            </a:extLst>
          </p:cNvPr>
          <p:cNvSpPr/>
          <p:nvPr/>
        </p:nvSpPr>
        <p:spPr>
          <a:xfrm>
            <a:off x="4536552" y="314529"/>
            <a:ext cx="2335346" cy="2553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328684C-C6BB-09D2-C053-A9947DF16F2B}"/>
              </a:ext>
            </a:extLst>
          </p:cNvPr>
          <p:cNvSpPr/>
          <p:nvPr/>
        </p:nvSpPr>
        <p:spPr>
          <a:xfrm>
            <a:off x="1442951" y="321149"/>
            <a:ext cx="1417403" cy="6428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4669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B764E-0158-50A2-173A-5D6240407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그룹 60">
            <a:extLst>
              <a:ext uri="{FF2B5EF4-FFF2-40B4-BE49-F238E27FC236}">
                <a16:creationId xmlns:a16="http://schemas.microsoft.com/office/drawing/2014/main" id="{1DCBFCE6-9435-5E38-5B57-8C0D79D621B4}"/>
              </a:ext>
            </a:extLst>
          </p:cNvPr>
          <p:cNvGrpSpPr/>
          <p:nvPr/>
        </p:nvGrpSpPr>
        <p:grpSpPr>
          <a:xfrm>
            <a:off x="325186" y="128015"/>
            <a:ext cx="7875459" cy="6673211"/>
            <a:chOff x="325186" y="128015"/>
            <a:chExt cx="7875459" cy="667321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5748F1D-D465-F278-960E-FCBDB0D94201}"/>
                </a:ext>
              </a:extLst>
            </p:cNvPr>
            <p:cNvSpPr/>
            <p:nvPr/>
          </p:nvSpPr>
          <p:spPr>
            <a:xfrm>
              <a:off x="329184" y="128015"/>
              <a:ext cx="7871461" cy="66732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13B74A3D-A0A0-E2F6-1753-C18C669D20C0}"/>
                </a:ext>
              </a:extLst>
            </p:cNvPr>
            <p:cNvSpPr/>
            <p:nvPr/>
          </p:nvSpPr>
          <p:spPr>
            <a:xfrm>
              <a:off x="1504842" y="386054"/>
              <a:ext cx="1313928" cy="5297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Logo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40CBA58-BF59-1E78-71F4-67C567D69119}"/>
                </a:ext>
              </a:extLst>
            </p:cNvPr>
            <p:cNvSpPr/>
            <p:nvPr/>
          </p:nvSpPr>
          <p:spPr>
            <a:xfrm>
              <a:off x="1503638" y="5910909"/>
              <a:ext cx="5450396" cy="3510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/>
                  </a:solidFill>
                </a:rPr>
                <a:t>개인정보처리방침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경영공시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고객정보취급방침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보호금융상품등록부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상품공시실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전자민원접수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</a:p>
            <a:p>
              <a:r>
                <a:rPr lang="ko-KR" altLang="en-US" sz="800" dirty="0" err="1">
                  <a:solidFill>
                    <a:schemeClr val="tx1"/>
                  </a:solidFill>
                </a:rPr>
                <a:t>전자금융이용자보호수칙</a:t>
              </a:r>
              <a:r>
                <a:rPr lang="ko-KR" altLang="en-US" sz="800" dirty="0">
                  <a:solidFill>
                    <a:schemeClr val="tx1"/>
                  </a:solidFill>
                </a:rPr>
                <a:t>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 err="1">
                  <a:solidFill>
                    <a:schemeClr val="tx1"/>
                  </a:solidFill>
                </a:rPr>
                <a:t>전자금융사기피해금환급제도</a:t>
              </a:r>
              <a:r>
                <a:rPr lang="ko-KR" altLang="en-US" sz="800" dirty="0">
                  <a:solidFill>
                    <a:schemeClr val="tx1"/>
                  </a:solidFill>
                </a:rPr>
                <a:t>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위치기반서비스 이용약관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F0EFE30E-5321-4723-D981-8C29613A0561}"/>
                </a:ext>
              </a:extLst>
            </p:cNvPr>
            <p:cNvSpPr/>
            <p:nvPr/>
          </p:nvSpPr>
          <p:spPr>
            <a:xfrm>
              <a:off x="3483996" y="707887"/>
              <a:ext cx="2096749" cy="256157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 err="1">
                  <a:solidFill>
                    <a:schemeClr val="tx1"/>
                  </a:solidFill>
                </a:rPr>
                <a:t>개인뱅킹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   </a:t>
              </a:r>
              <a:r>
                <a:rPr lang="ko-KR" altLang="en-US" sz="1000" b="1" dirty="0" err="1">
                  <a:solidFill>
                    <a:schemeClr val="tx1"/>
                  </a:solidFill>
                </a:rPr>
                <a:t>기업뱅킹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   금융상품 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319F6F79-06F5-48E6-E566-ABC67561B4E8}"/>
                </a:ext>
              </a:extLst>
            </p:cNvPr>
            <p:cNvSpPr/>
            <p:nvPr/>
          </p:nvSpPr>
          <p:spPr>
            <a:xfrm>
              <a:off x="1503638" y="6288425"/>
              <a:ext cx="2718708" cy="1777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>
                  <a:solidFill>
                    <a:schemeClr val="tx1"/>
                  </a:solidFill>
                </a:rPr>
                <a:t>고객상담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1588-6200, 1544-6200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1B29739B-0A47-9445-69A1-12D98757B46A}"/>
                </a:ext>
              </a:extLst>
            </p:cNvPr>
            <p:cNvSpPr/>
            <p:nvPr/>
          </p:nvSpPr>
          <p:spPr>
            <a:xfrm>
              <a:off x="5415850" y="6375887"/>
              <a:ext cx="699200" cy="2989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BNK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금융</a:t>
              </a:r>
              <a:endParaRPr lang="en-US" altLang="ko-KR" sz="8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네트워크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ACFB7A1E-26DC-4DF8-B0AA-D6CA1C9CD7E2}"/>
                </a:ext>
              </a:extLst>
            </p:cNvPr>
            <p:cNvSpPr/>
            <p:nvPr/>
          </p:nvSpPr>
          <p:spPr>
            <a:xfrm>
              <a:off x="1506232" y="1293988"/>
              <a:ext cx="3991534" cy="13004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배너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62E388B5-BAD3-F413-18C4-02526BC71537}"/>
                </a:ext>
              </a:extLst>
            </p:cNvPr>
            <p:cNvSpPr/>
            <p:nvPr/>
          </p:nvSpPr>
          <p:spPr>
            <a:xfrm>
              <a:off x="5866498" y="1749154"/>
              <a:ext cx="1087607" cy="3695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사고분실신고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6479F01D-CD11-E117-604D-AED5213CDF4D}"/>
                </a:ext>
              </a:extLst>
            </p:cNvPr>
            <p:cNvSpPr/>
            <p:nvPr/>
          </p:nvSpPr>
          <p:spPr>
            <a:xfrm>
              <a:off x="1935760" y="2793408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D0FB96BD-9F2C-A90A-5B4C-C6D6DC1A0C60}"/>
                </a:ext>
              </a:extLst>
            </p:cNvPr>
            <p:cNvSpPr/>
            <p:nvPr/>
          </p:nvSpPr>
          <p:spPr>
            <a:xfrm>
              <a:off x="1504806" y="4007442"/>
              <a:ext cx="2441674" cy="1125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새 소식 게시판</a:t>
              </a:r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6E295B3F-824A-FD75-8AC3-D0BFA0448B28}"/>
                </a:ext>
              </a:extLst>
            </p:cNvPr>
            <p:cNvCxnSpPr>
              <a:cxnSpLocks/>
            </p:cNvCxnSpPr>
            <p:nvPr/>
          </p:nvCxnSpPr>
          <p:spPr>
            <a:xfrm>
              <a:off x="329184" y="1145188"/>
              <a:ext cx="787146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9A51668D-C0ED-9E9F-F90D-D49A517D0B2B}"/>
                </a:ext>
              </a:extLst>
            </p:cNvPr>
            <p:cNvSpPr/>
            <p:nvPr/>
          </p:nvSpPr>
          <p:spPr>
            <a:xfrm>
              <a:off x="4446236" y="4016589"/>
              <a:ext cx="2509353" cy="1125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이벤트 게시판</a:t>
              </a: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4DD08E29-2B36-E00B-B05A-7E1737EE8AE7}"/>
                </a:ext>
              </a:extLst>
            </p:cNvPr>
            <p:cNvSpPr/>
            <p:nvPr/>
          </p:nvSpPr>
          <p:spPr>
            <a:xfrm>
              <a:off x="1505310" y="5286254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상품공시실</a:t>
              </a: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F838BBC1-0953-F467-30BD-E952A7988E8D}"/>
                </a:ext>
              </a:extLst>
            </p:cNvPr>
            <p:cNvSpPr/>
            <p:nvPr/>
          </p:nvSpPr>
          <p:spPr>
            <a:xfrm>
              <a:off x="2416814" y="5286254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자료실</a:t>
              </a: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BF897FD6-FABF-262B-307F-C4510A337CD1}"/>
                </a:ext>
              </a:extLst>
            </p:cNvPr>
            <p:cNvSpPr/>
            <p:nvPr/>
          </p:nvSpPr>
          <p:spPr>
            <a:xfrm>
              <a:off x="3310842" y="5286254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소비자보호</a:t>
              </a: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95C34C45-C1A4-F050-9C63-5A3246683D34}"/>
                </a:ext>
              </a:extLst>
            </p:cNvPr>
            <p:cNvSpPr/>
            <p:nvPr/>
          </p:nvSpPr>
          <p:spPr>
            <a:xfrm>
              <a:off x="4222346" y="5286254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고객센터</a:t>
              </a: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EFF10E02-4068-2F49-E81D-3431A7D5E12C}"/>
                </a:ext>
              </a:extLst>
            </p:cNvPr>
            <p:cNvSpPr/>
            <p:nvPr/>
          </p:nvSpPr>
          <p:spPr>
            <a:xfrm>
              <a:off x="5204195" y="5295401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비교조회</a:t>
              </a:r>
              <a:endParaRPr lang="en-US" altLang="ko-KR" sz="800" dirty="0">
                <a:solidFill>
                  <a:schemeClr val="tx1"/>
                </a:solidFill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039B0E3C-5768-8EBD-7EF2-9629F8C21576}"/>
                </a:ext>
              </a:extLst>
            </p:cNvPr>
            <p:cNvSpPr/>
            <p:nvPr/>
          </p:nvSpPr>
          <p:spPr>
            <a:xfrm>
              <a:off x="6177171" y="5295401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서민금융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A40BC37-723B-EB00-BB07-7947ECD1B431}"/>
                </a:ext>
              </a:extLst>
            </p:cNvPr>
            <p:cNvSpPr/>
            <p:nvPr/>
          </p:nvSpPr>
          <p:spPr>
            <a:xfrm>
              <a:off x="5866496" y="2218361"/>
              <a:ext cx="1087607" cy="3695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금융소비자보호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CA5D8C4-451F-3379-8D50-E480D07FDDB1}"/>
                </a:ext>
              </a:extLst>
            </p:cNvPr>
            <p:cNvSpPr/>
            <p:nvPr/>
          </p:nvSpPr>
          <p:spPr>
            <a:xfrm>
              <a:off x="5868723" y="1288458"/>
              <a:ext cx="1087607" cy="3695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빠른조회서비스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B917766C-52AD-17FB-E3EA-4E579A8E1A5F}"/>
                </a:ext>
              </a:extLst>
            </p:cNvPr>
            <p:cNvSpPr/>
            <p:nvPr/>
          </p:nvSpPr>
          <p:spPr>
            <a:xfrm>
              <a:off x="6255496" y="6375886"/>
              <a:ext cx="631863" cy="2989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FAMILY</a:t>
              </a:r>
            </a:p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SITE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7CD92FB0-EF94-D0E2-44FA-BF53C80879D1}"/>
                </a:ext>
              </a:extLst>
            </p:cNvPr>
            <p:cNvCxnSpPr>
              <a:cxnSpLocks/>
            </p:cNvCxnSpPr>
            <p:nvPr/>
          </p:nvCxnSpPr>
          <p:spPr>
            <a:xfrm>
              <a:off x="325186" y="5838851"/>
              <a:ext cx="787146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7D30D47F-0115-2F00-FBD9-12CEB50A78F9}"/>
                </a:ext>
              </a:extLst>
            </p:cNvPr>
            <p:cNvSpPr/>
            <p:nvPr/>
          </p:nvSpPr>
          <p:spPr>
            <a:xfrm>
              <a:off x="4454024" y="326482"/>
              <a:ext cx="2490485" cy="2553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로그인 </a:t>
              </a:r>
              <a:r>
                <a:rPr lang="en-US" altLang="ko-KR" sz="1000" dirty="0">
                  <a:solidFill>
                    <a:schemeClr val="tx1"/>
                  </a:solidFill>
                </a:rPr>
                <a:t>| </a:t>
              </a:r>
              <a:r>
                <a:rPr lang="ko-KR" altLang="en-US" sz="1000" dirty="0">
                  <a:solidFill>
                    <a:schemeClr val="tx1"/>
                  </a:solidFill>
                </a:rPr>
                <a:t>인증센터 </a:t>
              </a:r>
              <a:r>
                <a:rPr lang="en-US" altLang="ko-KR" sz="1000" dirty="0">
                  <a:solidFill>
                    <a:schemeClr val="tx1"/>
                  </a:solidFill>
                </a:rPr>
                <a:t>| </a:t>
              </a:r>
              <a:r>
                <a:rPr lang="ko-KR" altLang="en-US" sz="1000" dirty="0">
                  <a:solidFill>
                    <a:schemeClr val="tx1"/>
                  </a:solidFill>
                </a:rPr>
                <a:t>은행소개 </a:t>
              </a:r>
              <a:r>
                <a:rPr lang="en-US" altLang="ko-KR" sz="1000" dirty="0">
                  <a:solidFill>
                    <a:schemeClr val="tx1"/>
                  </a:solidFill>
                </a:rPr>
                <a:t>| Global</a:t>
              </a:r>
              <a:r>
                <a:rPr lang="ko-KR" altLang="en-US" sz="1000" dirty="0">
                  <a:solidFill>
                    <a:schemeClr val="tx1"/>
                  </a:solidFill>
                </a:rPr>
                <a:t>▼</a:t>
              </a: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ABDD48B3-1DFD-C1DD-5AA0-D7C4DD8CBAE5}"/>
                </a:ext>
              </a:extLst>
            </p:cNvPr>
            <p:cNvSpPr/>
            <p:nvPr/>
          </p:nvSpPr>
          <p:spPr>
            <a:xfrm>
              <a:off x="6255496" y="747170"/>
              <a:ext cx="677874" cy="1488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전체메뉴</a:t>
              </a: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6A19D57-2B4B-2675-03BE-4D294DD9F038}"/>
                </a:ext>
              </a:extLst>
            </p:cNvPr>
            <p:cNvSpPr/>
            <p:nvPr/>
          </p:nvSpPr>
          <p:spPr>
            <a:xfrm>
              <a:off x="5526513" y="749724"/>
              <a:ext cx="677874" cy="1488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검색하기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94D5E70-DBF3-52C3-A10E-013D901C91FC}"/>
                </a:ext>
              </a:extLst>
            </p:cNvPr>
            <p:cNvSpPr/>
            <p:nvPr/>
          </p:nvSpPr>
          <p:spPr>
            <a:xfrm>
              <a:off x="2769117" y="2793408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2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4D72D61-1B6E-F64E-B95C-DD4AC9160D21}"/>
                </a:ext>
              </a:extLst>
            </p:cNvPr>
            <p:cNvSpPr/>
            <p:nvPr/>
          </p:nvSpPr>
          <p:spPr>
            <a:xfrm>
              <a:off x="1935760" y="3316880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BD03732-CB92-3751-2A8D-8D3B22E9FEFA}"/>
                </a:ext>
              </a:extLst>
            </p:cNvPr>
            <p:cNvSpPr/>
            <p:nvPr/>
          </p:nvSpPr>
          <p:spPr>
            <a:xfrm>
              <a:off x="2769117" y="3316880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4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3CCF6E0-2C9B-DC90-EC69-C05FDA450FAB}"/>
                </a:ext>
              </a:extLst>
            </p:cNvPr>
            <p:cNvSpPr/>
            <p:nvPr/>
          </p:nvSpPr>
          <p:spPr>
            <a:xfrm>
              <a:off x="4932108" y="2802110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66196873-8B43-4C94-336B-BBAFE47228C4}"/>
                </a:ext>
              </a:extLst>
            </p:cNvPr>
            <p:cNvSpPr/>
            <p:nvPr/>
          </p:nvSpPr>
          <p:spPr>
            <a:xfrm>
              <a:off x="5765465" y="2802110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2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BE53D60-E77C-AD77-BEBB-6D90BD95F29E}"/>
                </a:ext>
              </a:extLst>
            </p:cNvPr>
            <p:cNvSpPr/>
            <p:nvPr/>
          </p:nvSpPr>
          <p:spPr>
            <a:xfrm>
              <a:off x="4932108" y="3325582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0C8675D-3D60-3A4F-D67B-CC4FAEDAA48F}"/>
                </a:ext>
              </a:extLst>
            </p:cNvPr>
            <p:cNvSpPr/>
            <p:nvPr/>
          </p:nvSpPr>
          <p:spPr>
            <a:xfrm>
              <a:off x="5765465" y="3325582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4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EACCF9F-7B3E-FDC7-E41B-D333C3F8BE76}"/>
                </a:ext>
              </a:extLst>
            </p:cNvPr>
            <p:cNvSpPr/>
            <p:nvPr/>
          </p:nvSpPr>
          <p:spPr>
            <a:xfrm>
              <a:off x="1503637" y="6524789"/>
              <a:ext cx="3700557" cy="1500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</a:rPr>
                <a:t>COPYRIGHT</a:t>
              </a:r>
              <a:r>
                <a:rPr lang="ko-KR" altLang="en-US" sz="1000" dirty="0">
                  <a:solidFill>
                    <a:schemeClr val="tx1"/>
                  </a:solidFill>
                </a:rPr>
                <a:t>ⓒ</a:t>
              </a:r>
              <a:r>
                <a:rPr lang="en-US" altLang="ko-KR" sz="1000" dirty="0">
                  <a:solidFill>
                    <a:schemeClr val="tx1"/>
                  </a:solidFill>
                </a:rPr>
                <a:t>2014 BUSANBANK  ALL RIGHTS RESERVED.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44" name="타원 43">
            <a:extLst>
              <a:ext uri="{FF2B5EF4-FFF2-40B4-BE49-F238E27FC236}">
                <a16:creationId xmlns:a16="http://schemas.microsoft.com/office/drawing/2014/main" id="{6A59D120-CE80-9D73-6F72-6D9D5A0B24C7}"/>
              </a:ext>
            </a:extLst>
          </p:cNvPr>
          <p:cNvSpPr/>
          <p:nvPr/>
        </p:nvSpPr>
        <p:spPr>
          <a:xfrm>
            <a:off x="3371981" y="713323"/>
            <a:ext cx="144000" cy="144000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3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428B880-AA6B-A11A-A11B-2381764988F0}"/>
              </a:ext>
            </a:extLst>
          </p:cNvPr>
          <p:cNvSpPr/>
          <p:nvPr/>
        </p:nvSpPr>
        <p:spPr>
          <a:xfrm>
            <a:off x="257175" y="57151"/>
            <a:ext cx="8039100" cy="11727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2F169FD-2DE5-9726-4FCB-84179CDC0E22}"/>
              </a:ext>
            </a:extLst>
          </p:cNvPr>
          <p:cNvSpPr/>
          <p:nvPr/>
        </p:nvSpPr>
        <p:spPr>
          <a:xfrm>
            <a:off x="252603" y="59803"/>
            <a:ext cx="918971" cy="3564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header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178" name="표 177">
            <a:extLst>
              <a:ext uri="{FF2B5EF4-FFF2-40B4-BE49-F238E27FC236}">
                <a16:creationId xmlns:a16="http://schemas.microsoft.com/office/drawing/2014/main" id="{E6C2B8CD-7A49-4AAD-866C-C5F3A6734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358197"/>
              </p:ext>
            </p:extLst>
          </p:nvPr>
        </p:nvGraphicFramePr>
        <p:xfrm>
          <a:off x="8403899" y="131052"/>
          <a:ext cx="3439867" cy="66701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1013">
                  <a:extLst>
                    <a:ext uri="{9D8B030D-6E8A-4147-A177-3AD203B41FA5}">
                      <a16:colId xmlns:a16="http://schemas.microsoft.com/office/drawing/2014/main" val="1209635219"/>
                    </a:ext>
                  </a:extLst>
                </a:gridCol>
                <a:gridCol w="2478854">
                  <a:extLst>
                    <a:ext uri="{9D8B030D-6E8A-4147-A177-3AD203B41FA5}">
                      <a16:colId xmlns:a16="http://schemas.microsoft.com/office/drawing/2014/main" val="2414493118"/>
                    </a:ext>
                  </a:extLst>
                </a:gridCol>
              </a:tblGrid>
              <a:tr h="417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프로젝트명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BNK </a:t>
                      </a:r>
                      <a:r>
                        <a:rPr lang="ko-KR" altLang="en-US" sz="1100" dirty="0"/>
                        <a:t>웹페이지 리뉴얼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1774899"/>
                  </a:ext>
                </a:extLst>
              </a:tr>
              <a:tr h="4172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화면 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메인 화면</a:t>
                      </a:r>
                      <a:endParaRPr lang="en-US" altLang="ko-KR" sz="11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831835"/>
                  </a:ext>
                </a:extLst>
              </a:tr>
              <a:tr h="417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사용주체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Header</a:t>
                      </a:r>
                      <a:r>
                        <a:rPr lang="ko-KR" altLang="en-US" sz="1100" dirty="0"/>
                        <a:t> 부분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4449978"/>
                  </a:ext>
                </a:extLst>
              </a:tr>
              <a:tr h="411814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/>
                        <a:t>Description (</a:t>
                      </a:r>
                      <a:r>
                        <a:rPr lang="ko-KR" altLang="en-US" sz="1100" dirty="0"/>
                        <a:t>화면 설명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840105"/>
                  </a:ext>
                </a:extLst>
              </a:tr>
              <a:tr h="5006688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100" b="1" dirty="0"/>
                        <a:t>[</a:t>
                      </a:r>
                      <a:r>
                        <a:rPr lang="ko-KR" altLang="en-US" sz="1100" b="1" dirty="0" err="1"/>
                        <a:t>메인화면</a:t>
                      </a:r>
                      <a:r>
                        <a:rPr lang="ko-KR" altLang="en-US" sz="1100" b="1" dirty="0"/>
                        <a:t> </a:t>
                      </a:r>
                      <a:r>
                        <a:rPr lang="en-US" altLang="ko-KR" sz="1100" b="1" dirty="0"/>
                        <a:t>– Header</a:t>
                      </a:r>
                      <a:r>
                        <a:rPr lang="ko-KR" altLang="en-US" sz="1100" b="1" dirty="0"/>
                        <a:t> 기능</a:t>
                      </a:r>
                      <a:r>
                        <a:rPr lang="en-US" altLang="ko-KR" sz="1100" b="1" dirty="0"/>
                        <a:t>]</a:t>
                      </a:r>
                    </a:p>
                    <a:p>
                      <a:pPr algn="l" latinLnBrk="1"/>
                      <a:endParaRPr lang="en-US" altLang="ko-KR" sz="1100" dirty="0"/>
                    </a:p>
                    <a:p>
                      <a:pPr algn="l" latinLnBrk="1"/>
                      <a:r>
                        <a:rPr lang="en-US" altLang="ko-KR" sz="1100" dirty="0"/>
                        <a:t>#3-1. </a:t>
                      </a:r>
                      <a:r>
                        <a:rPr lang="ko-KR" altLang="en-US" sz="1100" dirty="0" err="1"/>
                        <a:t>개인뱅킹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클릭 시 </a:t>
                      </a:r>
                      <a:r>
                        <a:rPr lang="ko-KR" altLang="en-US" sz="1100" dirty="0" err="1"/>
                        <a:t>개인뱅킹</a:t>
                      </a:r>
                      <a:r>
                        <a:rPr lang="ko-KR" altLang="en-US" sz="1100" dirty="0"/>
                        <a:t> 페이지로 이동</a:t>
                      </a:r>
                      <a:endParaRPr lang="en-US" altLang="ko-KR" sz="1100" dirty="0"/>
                    </a:p>
                    <a:p>
                      <a:pPr algn="l" latinLnBrk="1"/>
                      <a:endParaRPr lang="en-US" altLang="ko-KR" sz="1100" dirty="0"/>
                    </a:p>
                    <a:p>
                      <a:pPr algn="l" latinLnBrk="1"/>
                      <a:r>
                        <a:rPr lang="en-US" altLang="ko-KR" sz="1100" dirty="0"/>
                        <a:t>#3-2. </a:t>
                      </a:r>
                      <a:r>
                        <a:rPr lang="ko-KR" altLang="en-US" sz="1100" dirty="0" err="1"/>
                        <a:t>기업뱅킹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클릭 시 </a:t>
                      </a:r>
                      <a:r>
                        <a:rPr lang="ko-KR" altLang="en-US" sz="1100" dirty="0" err="1"/>
                        <a:t>기업뱅킹</a:t>
                      </a:r>
                      <a:r>
                        <a:rPr lang="ko-KR" altLang="en-US" sz="1100" dirty="0"/>
                        <a:t> 페이지로 이동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#3-3. </a:t>
                      </a:r>
                      <a:r>
                        <a:rPr lang="ko-KR" altLang="en-US" sz="1100" dirty="0"/>
                        <a:t>금융상품</a:t>
                      </a: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클릭 시 금융상품 페이지로 이동</a:t>
                      </a:r>
                      <a:endParaRPr lang="en-US" altLang="ko-KR" sz="1100" dirty="0"/>
                    </a:p>
                    <a:p>
                      <a:pPr algn="l" latinLnBrk="1"/>
                      <a:endParaRPr lang="en-US" altLang="ko-KR" sz="11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#3-4. </a:t>
                      </a:r>
                      <a:r>
                        <a:rPr lang="ko-KR" altLang="en-US" sz="1100" dirty="0"/>
                        <a:t>검색하기</a:t>
                      </a:r>
                      <a:endParaRPr lang="en-US" altLang="ko-KR" sz="11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100" dirty="0"/>
                        <a:t>클릭 시 검색 페이지로 이동</a:t>
                      </a:r>
                      <a:endParaRPr lang="en-US" altLang="ko-KR" sz="11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#3-5. </a:t>
                      </a:r>
                      <a:r>
                        <a:rPr lang="ko-KR" altLang="en-US" sz="1100" dirty="0"/>
                        <a:t>전체메뉴</a:t>
                      </a:r>
                      <a:endParaRPr lang="en-US" altLang="ko-KR" sz="11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100" dirty="0"/>
                        <a:t>전체 메뉴를 간소화하여 띄움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/>
                    </a:p>
                    <a:p>
                      <a:pPr algn="l" latinLnBrk="1"/>
                      <a:endParaRPr lang="en-US" altLang="ko-KR" sz="1100" dirty="0"/>
                    </a:p>
                    <a:p>
                      <a:pPr algn="l" latinLnBrk="1"/>
                      <a:r>
                        <a:rPr lang="en-US" altLang="ko-KR" sz="1100" dirty="0"/>
                        <a:t>#. Header</a:t>
                      </a:r>
                    </a:p>
                    <a:p>
                      <a:pPr algn="l" latinLnBrk="1"/>
                      <a:r>
                        <a:rPr lang="en-US" altLang="ko-KR" sz="1100" dirty="0"/>
                        <a:t>- Header</a:t>
                      </a:r>
                      <a:r>
                        <a:rPr lang="ko-KR" altLang="en-US" sz="1100" dirty="0"/>
                        <a:t>의 아래에 </a:t>
                      </a:r>
                      <a:r>
                        <a:rPr lang="en-US" altLang="ko-KR" sz="1100" dirty="0"/>
                        <a:t>main</a:t>
                      </a:r>
                      <a:r>
                        <a:rPr lang="ko-KR" altLang="en-US" sz="1100"/>
                        <a:t>과 구분선</a:t>
                      </a:r>
                      <a:endParaRPr lang="ko-KR" altLang="en-US" sz="11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727442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26E10355-88F6-4AE3-0A91-DFD30F35B9EF}"/>
              </a:ext>
            </a:extLst>
          </p:cNvPr>
          <p:cNvSpPr/>
          <p:nvPr/>
        </p:nvSpPr>
        <p:spPr>
          <a:xfrm>
            <a:off x="3561588" y="691228"/>
            <a:ext cx="3446252" cy="2553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010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BE2DF-87C1-DFCE-61C7-5A0A29321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그룹 60">
            <a:extLst>
              <a:ext uri="{FF2B5EF4-FFF2-40B4-BE49-F238E27FC236}">
                <a16:creationId xmlns:a16="http://schemas.microsoft.com/office/drawing/2014/main" id="{02616DD5-98AF-03BC-824C-BCA3F072641C}"/>
              </a:ext>
            </a:extLst>
          </p:cNvPr>
          <p:cNvGrpSpPr/>
          <p:nvPr/>
        </p:nvGrpSpPr>
        <p:grpSpPr>
          <a:xfrm>
            <a:off x="325186" y="128015"/>
            <a:ext cx="7875459" cy="6673211"/>
            <a:chOff x="325186" y="128015"/>
            <a:chExt cx="7875459" cy="667321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CE3A985-98A5-E1B5-ABA1-EC2AFD6D5F58}"/>
                </a:ext>
              </a:extLst>
            </p:cNvPr>
            <p:cNvSpPr/>
            <p:nvPr/>
          </p:nvSpPr>
          <p:spPr>
            <a:xfrm>
              <a:off x="329184" y="128015"/>
              <a:ext cx="7871461" cy="66732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BDA854E2-0620-7436-F067-C07AEAF76CB2}"/>
                </a:ext>
              </a:extLst>
            </p:cNvPr>
            <p:cNvSpPr/>
            <p:nvPr/>
          </p:nvSpPr>
          <p:spPr>
            <a:xfrm>
              <a:off x="1504842" y="386054"/>
              <a:ext cx="1313928" cy="5297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Logo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0428E48-C113-DD27-A860-52ADDC185E16}"/>
                </a:ext>
              </a:extLst>
            </p:cNvPr>
            <p:cNvSpPr/>
            <p:nvPr/>
          </p:nvSpPr>
          <p:spPr>
            <a:xfrm>
              <a:off x="1503638" y="5910909"/>
              <a:ext cx="5450396" cy="3510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/>
                  </a:solidFill>
                </a:rPr>
                <a:t>개인정보처리방침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경영공시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고객정보취급방침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보호금융상품등록부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상품공시실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전자민원접수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</a:p>
            <a:p>
              <a:r>
                <a:rPr lang="ko-KR" altLang="en-US" sz="800" dirty="0" err="1">
                  <a:solidFill>
                    <a:schemeClr val="tx1"/>
                  </a:solidFill>
                </a:rPr>
                <a:t>전자금융이용자보호수칙</a:t>
              </a:r>
              <a:r>
                <a:rPr lang="ko-KR" altLang="en-US" sz="800" dirty="0">
                  <a:solidFill>
                    <a:schemeClr val="tx1"/>
                  </a:solidFill>
                </a:rPr>
                <a:t>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 err="1">
                  <a:solidFill>
                    <a:schemeClr val="tx1"/>
                  </a:solidFill>
                </a:rPr>
                <a:t>전자금융사기피해금환급제도</a:t>
              </a:r>
              <a:r>
                <a:rPr lang="ko-KR" altLang="en-US" sz="800" dirty="0">
                  <a:solidFill>
                    <a:schemeClr val="tx1"/>
                  </a:solidFill>
                </a:rPr>
                <a:t>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위치기반서비스 이용약관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A1BC4501-A4C3-3C2F-ACCA-A8A6D5BD1EA2}"/>
                </a:ext>
              </a:extLst>
            </p:cNvPr>
            <p:cNvSpPr/>
            <p:nvPr/>
          </p:nvSpPr>
          <p:spPr>
            <a:xfrm>
              <a:off x="3483996" y="707887"/>
              <a:ext cx="2096749" cy="256157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 err="1">
                  <a:solidFill>
                    <a:schemeClr val="tx1"/>
                  </a:solidFill>
                </a:rPr>
                <a:t>개인뱅킹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   </a:t>
              </a:r>
              <a:r>
                <a:rPr lang="ko-KR" altLang="en-US" sz="1000" b="1" dirty="0" err="1">
                  <a:solidFill>
                    <a:schemeClr val="tx1"/>
                  </a:solidFill>
                </a:rPr>
                <a:t>기업뱅킹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   금융상품 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124A28BF-FA7C-A608-B105-A1100922A405}"/>
                </a:ext>
              </a:extLst>
            </p:cNvPr>
            <p:cNvSpPr/>
            <p:nvPr/>
          </p:nvSpPr>
          <p:spPr>
            <a:xfrm>
              <a:off x="1503638" y="6288425"/>
              <a:ext cx="2718708" cy="1777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>
                  <a:solidFill>
                    <a:schemeClr val="tx1"/>
                  </a:solidFill>
                </a:rPr>
                <a:t>고객상담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1588-6200, 1544-6200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E5374FB3-5245-7E28-6378-70A8C423DD20}"/>
                </a:ext>
              </a:extLst>
            </p:cNvPr>
            <p:cNvSpPr/>
            <p:nvPr/>
          </p:nvSpPr>
          <p:spPr>
            <a:xfrm>
              <a:off x="5415850" y="6375887"/>
              <a:ext cx="699200" cy="2989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BNK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금융</a:t>
              </a:r>
              <a:endParaRPr lang="en-US" altLang="ko-KR" sz="8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네트워크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E441661F-193F-3313-AF66-54032F5104CD}"/>
                </a:ext>
              </a:extLst>
            </p:cNvPr>
            <p:cNvSpPr/>
            <p:nvPr/>
          </p:nvSpPr>
          <p:spPr>
            <a:xfrm>
              <a:off x="1506232" y="1293988"/>
              <a:ext cx="3991534" cy="13004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배너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5671AA04-8350-3B2E-8C08-784BED796378}"/>
                </a:ext>
              </a:extLst>
            </p:cNvPr>
            <p:cNvSpPr/>
            <p:nvPr/>
          </p:nvSpPr>
          <p:spPr>
            <a:xfrm>
              <a:off x="5866498" y="1749154"/>
              <a:ext cx="1087607" cy="3695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사고분실신고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40D9B58E-4E79-7E63-6873-529045E6FE53}"/>
                </a:ext>
              </a:extLst>
            </p:cNvPr>
            <p:cNvSpPr/>
            <p:nvPr/>
          </p:nvSpPr>
          <p:spPr>
            <a:xfrm>
              <a:off x="1935760" y="2793408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D5E48E41-6970-C973-CF51-88955C04D1B1}"/>
                </a:ext>
              </a:extLst>
            </p:cNvPr>
            <p:cNvSpPr/>
            <p:nvPr/>
          </p:nvSpPr>
          <p:spPr>
            <a:xfrm>
              <a:off x="1504806" y="4007442"/>
              <a:ext cx="2441674" cy="1125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새 소식 게시판</a:t>
              </a:r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C2FFF27C-9F5A-6745-4EF7-5DDCF2D06CD4}"/>
                </a:ext>
              </a:extLst>
            </p:cNvPr>
            <p:cNvCxnSpPr>
              <a:cxnSpLocks/>
            </p:cNvCxnSpPr>
            <p:nvPr/>
          </p:nvCxnSpPr>
          <p:spPr>
            <a:xfrm>
              <a:off x="329184" y="1145188"/>
              <a:ext cx="787146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94812C82-E623-96B0-8D18-217F6CE1CB44}"/>
                </a:ext>
              </a:extLst>
            </p:cNvPr>
            <p:cNvSpPr/>
            <p:nvPr/>
          </p:nvSpPr>
          <p:spPr>
            <a:xfrm>
              <a:off x="4446236" y="4016589"/>
              <a:ext cx="2509353" cy="1125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이벤트 게시판</a:t>
              </a: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698561AE-F98D-0621-E6DF-BB3CD943426B}"/>
                </a:ext>
              </a:extLst>
            </p:cNvPr>
            <p:cNvSpPr/>
            <p:nvPr/>
          </p:nvSpPr>
          <p:spPr>
            <a:xfrm>
              <a:off x="1505310" y="5286254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상품공시실</a:t>
              </a: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EBF9F6B9-9BF8-F94F-9442-097A1FBCA63E}"/>
                </a:ext>
              </a:extLst>
            </p:cNvPr>
            <p:cNvSpPr/>
            <p:nvPr/>
          </p:nvSpPr>
          <p:spPr>
            <a:xfrm>
              <a:off x="2416814" y="5286254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자료실</a:t>
              </a: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990C2669-4836-1F7C-6615-F9A8923D6FBC}"/>
                </a:ext>
              </a:extLst>
            </p:cNvPr>
            <p:cNvSpPr/>
            <p:nvPr/>
          </p:nvSpPr>
          <p:spPr>
            <a:xfrm>
              <a:off x="3310842" y="5286254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소비자보호</a:t>
              </a: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521C6755-F040-9280-57B7-C437F559E0FA}"/>
                </a:ext>
              </a:extLst>
            </p:cNvPr>
            <p:cNvSpPr/>
            <p:nvPr/>
          </p:nvSpPr>
          <p:spPr>
            <a:xfrm>
              <a:off x="4222346" y="5286254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고객센터</a:t>
              </a: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FDF33F7B-E193-6921-D07F-AB73BA95619F}"/>
                </a:ext>
              </a:extLst>
            </p:cNvPr>
            <p:cNvSpPr/>
            <p:nvPr/>
          </p:nvSpPr>
          <p:spPr>
            <a:xfrm>
              <a:off x="5204195" y="5295401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비교조회</a:t>
              </a:r>
              <a:endParaRPr lang="en-US" altLang="ko-KR" sz="800" dirty="0">
                <a:solidFill>
                  <a:schemeClr val="tx1"/>
                </a:solidFill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04F3785C-7184-E9DA-8AE4-1A8BA7908B59}"/>
                </a:ext>
              </a:extLst>
            </p:cNvPr>
            <p:cNvSpPr/>
            <p:nvPr/>
          </p:nvSpPr>
          <p:spPr>
            <a:xfrm>
              <a:off x="6177171" y="5295401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서민금융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4B9FE82-AA7E-1199-FF29-070C8EE6C73A}"/>
                </a:ext>
              </a:extLst>
            </p:cNvPr>
            <p:cNvSpPr/>
            <p:nvPr/>
          </p:nvSpPr>
          <p:spPr>
            <a:xfrm>
              <a:off x="5866496" y="2218361"/>
              <a:ext cx="1087607" cy="3695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금융소비자보호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F14F0A4-2DD3-6172-D513-5061DD831BA7}"/>
                </a:ext>
              </a:extLst>
            </p:cNvPr>
            <p:cNvSpPr/>
            <p:nvPr/>
          </p:nvSpPr>
          <p:spPr>
            <a:xfrm>
              <a:off x="5868723" y="1288458"/>
              <a:ext cx="1087607" cy="3695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빠른조회서비스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2003B8E7-4607-8F05-3C3A-7454CE5F06C0}"/>
                </a:ext>
              </a:extLst>
            </p:cNvPr>
            <p:cNvSpPr/>
            <p:nvPr/>
          </p:nvSpPr>
          <p:spPr>
            <a:xfrm>
              <a:off x="6255496" y="6375886"/>
              <a:ext cx="631863" cy="2989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FAMILY</a:t>
              </a:r>
            </a:p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SITE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30CEF633-3970-112D-8AA7-E114D385FDEE}"/>
                </a:ext>
              </a:extLst>
            </p:cNvPr>
            <p:cNvCxnSpPr>
              <a:cxnSpLocks/>
            </p:cNvCxnSpPr>
            <p:nvPr/>
          </p:nvCxnSpPr>
          <p:spPr>
            <a:xfrm>
              <a:off x="325186" y="5838851"/>
              <a:ext cx="787146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6122AD49-B0D2-803E-89B1-7CC24D9F642E}"/>
                </a:ext>
              </a:extLst>
            </p:cNvPr>
            <p:cNvSpPr/>
            <p:nvPr/>
          </p:nvSpPr>
          <p:spPr>
            <a:xfrm>
              <a:off x="4454024" y="326482"/>
              <a:ext cx="2490485" cy="2553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로그인 </a:t>
              </a:r>
              <a:r>
                <a:rPr lang="en-US" altLang="ko-KR" sz="1000" dirty="0">
                  <a:solidFill>
                    <a:schemeClr val="tx1"/>
                  </a:solidFill>
                </a:rPr>
                <a:t>| </a:t>
              </a:r>
              <a:r>
                <a:rPr lang="ko-KR" altLang="en-US" sz="1000" dirty="0">
                  <a:solidFill>
                    <a:schemeClr val="tx1"/>
                  </a:solidFill>
                </a:rPr>
                <a:t>인증센터 </a:t>
              </a:r>
              <a:r>
                <a:rPr lang="en-US" altLang="ko-KR" sz="1000" dirty="0">
                  <a:solidFill>
                    <a:schemeClr val="tx1"/>
                  </a:solidFill>
                </a:rPr>
                <a:t>| </a:t>
              </a:r>
              <a:r>
                <a:rPr lang="ko-KR" altLang="en-US" sz="1000" dirty="0">
                  <a:solidFill>
                    <a:schemeClr val="tx1"/>
                  </a:solidFill>
                </a:rPr>
                <a:t>은행소개 </a:t>
              </a:r>
              <a:r>
                <a:rPr lang="en-US" altLang="ko-KR" sz="1000" dirty="0">
                  <a:solidFill>
                    <a:schemeClr val="tx1"/>
                  </a:solidFill>
                </a:rPr>
                <a:t>| Global</a:t>
              </a:r>
              <a:r>
                <a:rPr lang="ko-KR" altLang="en-US" sz="1000" dirty="0">
                  <a:solidFill>
                    <a:schemeClr val="tx1"/>
                  </a:solidFill>
                </a:rPr>
                <a:t>▼</a:t>
              </a: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FE65465C-030E-CBD3-13AA-1FCC4EDEFD9F}"/>
                </a:ext>
              </a:extLst>
            </p:cNvPr>
            <p:cNvSpPr/>
            <p:nvPr/>
          </p:nvSpPr>
          <p:spPr>
            <a:xfrm>
              <a:off x="6255496" y="747170"/>
              <a:ext cx="677874" cy="1488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전체메뉴</a:t>
              </a: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08694CD8-CDB6-20F3-8C42-EA8FF8F5073E}"/>
                </a:ext>
              </a:extLst>
            </p:cNvPr>
            <p:cNvSpPr/>
            <p:nvPr/>
          </p:nvSpPr>
          <p:spPr>
            <a:xfrm>
              <a:off x="5526513" y="749724"/>
              <a:ext cx="677874" cy="1488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검색하기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516C2EF4-E6B0-7125-273B-35BD7CCF3AA9}"/>
                </a:ext>
              </a:extLst>
            </p:cNvPr>
            <p:cNvSpPr/>
            <p:nvPr/>
          </p:nvSpPr>
          <p:spPr>
            <a:xfrm>
              <a:off x="2769117" y="2793408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2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4F26627-8A54-0C33-DF5D-3BB50DD7EF1E}"/>
                </a:ext>
              </a:extLst>
            </p:cNvPr>
            <p:cNvSpPr/>
            <p:nvPr/>
          </p:nvSpPr>
          <p:spPr>
            <a:xfrm>
              <a:off x="1935760" y="3316880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FB6A0F7-820B-B16E-A26C-527E326B8D94}"/>
                </a:ext>
              </a:extLst>
            </p:cNvPr>
            <p:cNvSpPr/>
            <p:nvPr/>
          </p:nvSpPr>
          <p:spPr>
            <a:xfrm>
              <a:off x="2769117" y="3316880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4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C071C7B-9727-EEA8-5BA7-E93AB1B6E2F1}"/>
                </a:ext>
              </a:extLst>
            </p:cNvPr>
            <p:cNvSpPr/>
            <p:nvPr/>
          </p:nvSpPr>
          <p:spPr>
            <a:xfrm>
              <a:off x="4932108" y="2802110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FFBA924-351C-99A8-4687-5C792046EB1C}"/>
                </a:ext>
              </a:extLst>
            </p:cNvPr>
            <p:cNvSpPr/>
            <p:nvPr/>
          </p:nvSpPr>
          <p:spPr>
            <a:xfrm>
              <a:off x="5765465" y="2802110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2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413FDDE-0D2D-BCC5-DA9B-27C08216D2C4}"/>
                </a:ext>
              </a:extLst>
            </p:cNvPr>
            <p:cNvSpPr/>
            <p:nvPr/>
          </p:nvSpPr>
          <p:spPr>
            <a:xfrm>
              <a:off x="4932108" y="3325582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D2DBE80-DEA5-58E6-6658-5D01EA84A25F}"/>
                </a:ext>
              </a:extLst>
            </p:cNvPr>
            <p:cNvSpPr/>
            <p:nvPr/>
          </p:nvSpPr>
          <p:spPr>
            <a:xfrm>
              <a:off x="5765465" y="3325582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4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3DC7B4D-DC1C-0D96-E55E-CE534F550505}"/>
                </a:ext>
              </a:extLst>
            </p:cNvPr>
            <p:cNvSpPr/>
            <p:nvPr/>
          </p:nvSpPr>
          <p:spPr>
            <a:xfrm>
              <a:off x="1503637" y="6524789"/>
              <a:ext cx="3700557" cy="1500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</a:rPr>
                <a:t>COPYRIGHT</a:t>
              </a:r>
              <a:r>
                <a:rPr lang="ko-KR" altLang="en-US" sz="1000" dirty="0">
                  <a:solidFill>
                    <a:schemeClr val="tx1"/>
                  </a:solidFill>
                </a:rPr>
                <a:t>ⓒ</a:t>
              </a:r>
              <a:r>
                <a:rPr lang="en-US" altLang="ko-KR" sz="1000" dirty="0">
                  <a:solidFill>
                    <a:schemeClr val="tx1"/>
                  </a:solidFill>
                </a:rPr>
                <a:t>2014 BUSANBANK  ALL RIGHTS RESERVED.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37" name="타원 36">
            <a:extLst>
              <a:ext uri="{FF2B5EF4-FFF2-40B4-BE49-F238E27FC236}">
                <a16:creationId xmlns:a16="http://schemas.microsoft.com/office/drawing/2014/main" id="{993E4AB2-8E81-5865-B397-00A8126DBA94}"/>
              </a:ext>
            </a:extLst>
          </p:cNvPr>
          <p:cNvSpPr/>
          <p:nvPr/>
        </p:nvSpPr>
        <p:spPr>
          <a:xfrm>
            <a:off x="1546242" y="1329240"/>
            <a:ext cx="144000" cy="144000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6BECC929-D7C8-5290-2C37-9D9FA61AD16F}"/>
              </a:ext>
            </a:extLst>
          </p:cNvPr>
          <p:cNvSpPr/>
          <p:nvPr/>
        </p:nvSpPr>
        <p:spPr>
          <a:xfrm>
            <a:off x="5681926" y="1311360"/>
            <a:ext cx="144000" cy="144000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2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FB88456-8D57-7FC8-426B-8F30D764859E}"/>
              </a:ext>
            </a:extLst>
          </p:cNvPr>
          <p:cNvSpPr/>
          <p:nvPr/>
        </p:nvSpPr>
        <p:spPr>
          <a:xfrm>
            <a:off x="260886" y="1066487"/>
            <a:ext cx="8039100" cy="48444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3BD75F21-1D06-5219-BC0D-E2E243D5A79D}"/>
              </a:ext>
            </a:extLst>
          </p:cNvPr>
          <p:cNvSpPr/>
          <p:nvPr/>
        </p:nvSpPr>
        <p:spPr>
          <a:xfrm>
            <a:off x="256314" y="1069140"/>
            <a:ext cx="918971" cy="3564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main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178" name="표 177">
            <a:extLst>
              <a:ext uri="{FF2B5EF4-FFF2-40B4-BE49-F238E27FC236}">
                <a16:creationId xmlns:a16="http://schemas.microsoft.com/office/drawing/2014/main" id="{034CB941-91A5-D92C-F3AA-56A5AAFCC9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5296955"/>
              </p:ext>
            </p:extLst>
          </p:nvPr>
        </p:nvGraphicFramePr>
        <p:xfrm>
          <a:off x="8403899" y="131052"/>
          <a:ext cx="3439867" cy="66701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1013">
                  <a:extLst>
                    <a:ext uri="{9D8B030D-6E8A-4147-A177-3AD203B41FA5}">
                      <a16:colId xmlns:a16="http://schemas.microsoft.com/office/drawing/2014/main" val="1209635219"/>
                    </a:ext>
                  </a:extLst>
                </a:gridCol>
                <a:gridCol w="2478854">
                  <a:extLst>
                    <a:ext uri="{9D8B030D-6E8A-4147-A177-3AD203B41FA5}">
                      <a16:colId xmlns:a16="http://schemas.microsoft.com/office/drawing/2014/main" val="2414493118"/>
                    </a:ext>
                  </a:extLst>
                </a:gridCol>
              </a:tblGrid>
              <a:tr h="417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프로젝트명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BNK </a:t>
                      </a:r>
                      <a:r>
                        <a:rPr lang="ko-KR" altLang="en-US" sz="1100" dirty="0"/>
                        <a:t>웹페이지 리뉴얼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1774899"/>
                  </a:ext>
                </a:extLst>
              </a:tr>
              <a:tr h="4172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화면 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메인 화면</a:t>
                      </a:r>
                      <a:endParaRPr lang="en-US" altLang="ko-KR" sz="11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831835"/>
                  </a:ext>
                </a:extLst>
              </a:tr>
              <a:tr h="417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사용주체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Main</a:t>
                      </a:r>
                      <a:r>
                        <a:rPr lang="ko-KR" altLang="en-US" sz="1100" dirty="0"/>
                        <a:t> 부분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4449978"/>
                  </a:ext>
                </a:extLst>
              </a:tr>
              <a:tr h="411814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/>
                        <a:t>Description (</a:t>
                      </a:r>
                      <a:r>
                        <a:rPr lang="ko-KR" altLang="en-US" sz="1100" dirty="0"/>
                        <a:t>화면 설명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840105"/>
                  </a:ext>
                </a:extLst>
              </a:tr>
              <a:tr h="5006688">
                <a:tc gridSpan="2">
                  <a:txBody>
                    <a:bodyPr/>
                    <a:lstStyle/>
                    <a:p>
                      <a:pPr algn="l" latinLnBrk="1"/>
                      <a:endParaRPr lang="en-US" altLang="ko-KR" sz="1100" dirty="0"/>
                    </a:p>
                    <a:p>
                      <a:pPr algn="l" latinLnBrk="1"/>
                      <a:r>
                        <a:rPr lang="en-US" altLang="ko-KR" sz="1100" dirty="0"/>
                        <a:t>#1. </a:t>
                      </a:r>
                      <a:r>
                        <a:rPr lang="ko-KR" altLang="en-US" sz="1100" dirty="0"/>
                        <a:t>배너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배너는 두 가지 이미지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각 이미지 클릭 시 해당 페이지로 이동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배너 </a:t>
                      </a:r>
                      <a:r>
                        <a:rPr lang="en-US" altLang="ko-KR" sz="1100" dirty="0"/>
                        <a:t>1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) </a:t>
                      </a:r>
                      <a:r>
                        <a:rPr lang="ko-KR" altLang="en-US" sz="1100" dirty="0"/>
                        <a:t>배경은 부산 광안리 야경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배너 </a:t>
                      </a:r>
                      <a:r>
                        <a:rPr lang="en-US" altLang="ko-KR" sz="1100" dirty="0"/>
                        <a:t>2) </a:t>
                      </a:r>
                      <a:r>
                        <a:rPr lang="ko-KR" altLang="en-US" sz="1100" dirty="0" err="1"/>
                        <a:t>동백전</a:t>
                      </a:r>
                      <a:r>
                        <a:rPr lang="ko-KR" altLang="en-US" sz="1100" dirty="0"/>
                        <a:t> 이미지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100" dirty="0"/>
                        <a:t>#2-1. </a:t>
                      </a:r>
                      <a:r>
                        <a:rPr lang="ko-KR" altLang="en-US" sz="1100" dirty="0"/>
                        <a:t>빠른 조회 서비스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클릭 시 해당 페이지로 이동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100" dirty="0"/>
                        <a:t>#2-2. </a:t>
                      </a:r>
                      <a:r>
                        <a:rPr lang="ko-KR" altLang="en-US" sz="1100" dirty="0"/>
                        <a:t>사고 분실 신고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클릭 시 해당 페이지로 이동</a:t>
                      </a:r>
                      <a:endParaRPr lang="en-US" altLang="ko-KR" sz="1100" dirty="0"/>
                    </a:p>
                    <a:p>
                      <a:pPr marL="0" indent="0" algn="l" latinLnBrk="1">
                        <a:buFontTx/>
                        <a:buNone/>
                      </a:pPr>
                      <a:endParaRPr lang="en-US" altLang="ko-KR" sz="11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100" dirty="0"/>
                        <a:t>#2-3. </a:t>
                      </a:r>
                      <a:r>
                        <a:rPr lang="ko-KR" altLang="en-US" sz="1100" dirty="0"/>
                        <a:t>금융 소비자 보호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클릭 시 해당 페이지로 이동</a:t>
                      </a:r>
                      <a:endParaRPr lang="en-US" altLang="ko-KR" sz="1100" dirty="0"/>
                    </a:p>
                    <a:p>
                      <a:pPr marL="0" indent="0" algn="l" latinLnBrk="1">
                        <a:buFontTx/>
                        <a:buNone/>
                      </a:pPr>
                      <a:endParaRPr lang="en-US" altLang="ko-KR" sz="11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100" dirty="0"/>
                        <a:t>#3. </a:t>
                      </a:r>
                      <a:r>
                        <a:rPr lang="ko-KR" altLang="en-US" sz="1100" dirty="0"/>
                        <a:t>상품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부산은행 대표 상품 </a:t>
                      </a:r>
                      <a:r>
                        <a:rPr lang="en-US" altLang="ko-KR" sz="1100" dirty="0"/>
                        <a:t>4</a:t>
                      </a:r>
                      <a:r>
                        <a:rPr lang="ko-KR" altLang="en-US" sz="1100" dirty="0"/>
                        <a:t>가지 띄움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각 상품의 크기는 정사각형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테두리 없음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100" dirty="0"/>
                        <a:t>#4. </a:t>
                      </a:r>
                      <a:r>
                        <a:rPr lang="ko-KR" altLang="en-US" sz="1100" dirty="0"/>
                        <a:t>지역 상품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경상도 지역 시민만의 혜택 상품 </a:t>
                      </a:r>
                      <a:r>
                        <a:rPr lang="en-US" altLang="ko-KR" sz="1100" dirty="0"/>
                        <a:t>4</a:t>
                      </a:r>
                      <a:r>
                        <a:rPr lang="ko-KR" altLang="en-US" sz="1100" dirty="0"/>
                        <a:t>가지를 띄움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각 상품의 크기는 정사각형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테두리 없음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727442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599406-08E3-71F9-290F-64321EB0DBEA}"/>
              </a:ext>
            </a:extLst>
          </p:cNvPr>
          <p:cNvSpPr/>
          <p:nvPr/>
        </p:nvSpPr>
        <p:spPr>
          <a:xfrm>
            <a:off x="1404880" y="1240876"/>
            <a:ext cx="5626011" cy="25622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8953E3B-59E7-A2F2-1AD9-EC1BDEA8982C}"/>
              </a:ext>
            </a:extLst>
          </p:cNvPr>
          <p:cNvSpPr/>
          <p:nvPr/>
        </p:nvSpPr>
        <p:spPr>
          <a:xfrm>
            <a:off x="1748963" y="2696888"/>
            <a:ext cx="144000" cy="144000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3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3FB43F8-8A19-C2B9-9581-82902C31F753}"/>
              </a:ext>
            </a:extLst>
          </p:cNvPr>
          <p:cNvSpPr/>
          <p:nvPr/>
        </p:nvSpPr>
        <p:spPr>
          <a:xfrm>
            <a:off x="4760767" y="2685385"/>
            <a:ext cx="144000" cy="144000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4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710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D36B1-CC65-1911-715E-938A19D59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그룹 60">
            <a:extLst>
              <a:ext uri="{FF2B5EF4-FFF2-40B4-BE49-F238E27FC236}">
                <a16:creationId xmlns:a16="http://schemas.microsoft.com/office/drawing/2014/main" id="{3BE9EBA0-AF1A-53EA-69A7-E81E9C7291D6}"/>
              </a:ext>
            </a:extLst>
          </p:cNvPr>
          <p:cNvGrpSpPr/>
          <p:nvPr/>
        </p:nvGrpSpPr>
        <p:grpSpPr>
          <a:xfrm>
            <a:off x="325186" y="128015"/>
            <a:ext cx="7875459" cy="6673211"/>
            <a:chOff x="325186" y="128015"/>
            <a:chExt cx="7875459" cy="667321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BB83621-C773-50AD-87B1-D66446B4CCC6}"/>
                </a:ext>
              </a:extLst>
            </p:cNvPr>
            <p:cNvSpPr/>
            <p:nvPr/>
          </p:nvSpPr>
          <p:spPr>
            <a:xfrm>
              <a:off x="329184" y="128015"/>
              <a:ext cx="7871461" cy="66732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49C1B70-D323-7343-E502-9054899E8275}"/>
                </a:ext>
              </a:extLst>
            </p:cNvPr>
            <p:cNvSpPr/>
            <p:nvPr/>
          </p:nvSpPr>
          <p:spPr>
            <a:xfrm>
              <a:off x="1504842" y="386054"/>
              <a:ext cx="1313928" cy="5297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Logo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A8F6998D-BD8A-2F92-1784-A6E8D4783C8E}"/>
                </a:ext>
              </a:extLst>
            </p:cNvPr>
            <p:cNvSpPr/>
            <p:nvPr/>
          </p:nvSpPr>
          <p:spPr>
            <a:xfrm>
              <a:off x="1503638" y="5910909"/>
              <a:ext cx="5450396" cy="3510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/>
                  </a:solidFill>
                </a:rPr>
                <a:t>개인정보처리방침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경영공시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고객정보취급방침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보호금융상품등록부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상품공시실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전자민원접수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</a:p>
            <a:p>
              <a:r>
                <a:rPr lang="ko-KR" altLang="en-US" sz="800" dirty="0" err="1">
                  <a:solidFill>
                    <a:schemeClr val="tx1"/>
                  </a:solidFill>
                </a:rPr>
                <a:t>전자금융이용자보호수칙</a:t>
              </a:r>
              <a:r>
                <a:rPr lang="ko-KR" altLang="en-US" sz="800" dirty="0">
                  <a:solidFill>
                    <a:schemeClr val="tx1"/>
                  </a:solidFill>
                </a:rPr>
                <a:t>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 err="1">
                  <a:solidFill>
                    <a:schemeClr val="tx1"/>
                  </a:solidFill>
                </a:rPr>
                <a:t>전자금융사기피해금환급제도</a:t>
              </a:r>
              <a:r>
                <a:rPr lang="ko-KR" altLang="en-US" sz="800" dirty="0">
                  <a:solidFill>
                    <a:schemeClr val="tx1"/>
                  </a:solidFill>
                </a:rPr>
                <a:t>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위치기반서비스 이용약관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0DA1BAD9-D3BF-301E-B59B-2D13F22FDDD6}"/>
                </a:ext>
              </a:extLst>
            </p:cNvPr>
            <p:cNvSpPr/>
            <p:nvPr/>
          </p:nvSpPr>
          <p:spPr>
            <a:xfrm>
              <a:off x="3483996" y="707887"/>
              <a:ext cx="2096749" cy="256157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 err="1">
                  <a:solidFill>
                    <a:schemeClr val="tx1"/>
                  </a:solidFill>
                </a:rPr>
                <a:t>개인뱅킹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   </a:t>
              </a:r>
              <a:r>
                <a:rPr lang="ko-KR" altLang="en-US" sz="1000" b="1" dirty="0" err="1">
                  <a:solidFill>
                    <a:schemeClr val="tx1"/>
                  </a:solidFill>
                </a:rPr>
                <a:t>기업뱅킹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   금융상품 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FB983BD1-9F98-9BBE-458F-E8B6FD7FAC1E}"/>
                </a:ext>
              </a:extLst>
            </p:cNvPr>
            <p:cNvSpPr/>
            <p:nvPr/>
          </p:nvSpPr>
          <p:spPr>
            <a:xfrm>
              <a:off x="1503638" y="6288425"/>
              <a:ext cx="2718708" cy="1777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>
                  <a:solidFill>
                    <a:schemeClr val="tx1"/>
                  </a:solidFill>
                </a:rPr>
                <a:t>고객상담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1588-6200, 1544-6200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7193639A-4E0C-D82E-6123-985F3E4A1223}"/>
                </a:ext>
              </a:extLst>
            </p:cNvPr>
            <p:cNvSpPr/>
            <p:nvPr/>
          </p:nvSpPr>
          <p:spPr>
            <a:xfrm>
              <a:off x="5415850" y="6375887"/>
              <a:ext cx="699200" cy="2989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BNK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금융</a:t>
              </a:r>
              <a:endParaRPr lang="en-US" altLang="ko-KR" sz="8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네트워크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17E55246-6C31-4CDC-C065-45584645F5BF}"/>
                </a:ext>
              </a:extLst>
            </p:cNvPr>
            <p:cNvSpPr/>
            <p:nvPr/>
          </p:nvSpPr>
          <p:spPr>
            <a:xfrm>
              <a:off x="1506232" y="1293988"/>
              <a:ext cx="3991534" cy="13004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배너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901F4125-2EC0-96B9-CF8D-919C9A087641}"/>
                </a:ext>
              </a:extLst>
            </p:cNvPr>
            <p:cNvSpPr/>
            <p:nvPr/>
          </p:nvSpPr>
          <p:spPr>
            <a:xfrm>
              <a:off x="5866498" y="1749154"/>
              <a:ext cx="1087607" cy="3695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사고분실신고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6FD6076E-5EA3-7A9F-08A2-78DF91D72644}"/>
                </a:ext>
              </a:extLst>
            </p:cNvPr>
            <p:cNvSpPr/>
            <p:nvPr/>
          </p:nvSpPr>
          <p:spPr>
            <a:xfrm>
              <a:off x="1935760" y="2793408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4C34DD46-6EB5-7713-D63C-E6BF16572D38}"/>
                </a:ext>
              </a:extLst>
            </p:cNvPr>
            <p:cNvSpPr/>
            <p:nvPr/>
          </p:nvSpPr>
          <p:spPr>
            <a:xfrm>
              <a:off x="1504806" y="4007442"/>
              <a:ext cx="2441674" cy="1125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새 소식 게시판</a:t>
              </a:r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767AA0EA-E8E8-0EBF-06E4-EEE15799B348}"/>
                </a:ext>
              </a:extLst>
            </p:cNvPr>
            <p:cNvCxnSpPr>
              <a:cxnSpLocks/>
            </p:cNvCxnSpPr>
            <p:nvPr/>
          </p:nvCxnSpPr>
          <p:spPr>
            <a:xfrm>
              <a:off x="329184" y="1145188"/>
              <a:ext cx="787146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F5EB1A9B-409C-1AE5-0772-99443ACBE9AE}"/>
                </a:ext>
              </a:extLst>
            </p:cNvPr>
            <p:cNvSpPr/>
            <p:nvPr/>
          </p:nvSpPr>
          <p:spPr>
            <a:xfrm>
              <a:off x="4446236" y="4016589"/>
              <a:ext cx="2509353" cy="1125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이벤트 게시판</a:t>
              </a: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77929C8A-888D-EF84-C491-72D7326B253F}"/>
                </a:ext>
              </a:extLst>
            </p:cNvPr>
            <p:cNvSpPr/>
            <p:nvPr/>
          </p:nvSpPr>
          <p:spPr>
            <a:xfrm>
              <a:off x="1505310" y="5286254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상품공시실</a:t>
              </a: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86A96AEC-CA7B-15E6-6978-AFCE0FA5995A}"/>
                </a:ext>
              </a:extLst>
            </p:cNvPr>
            <p:cNvSpPr/>
            <p:nvPr/>
          </p:nvSpPr>
          <p:spPr>
            <a:xfrm>
              <a:off x="2416814" y="5286254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자료실</a:t>
              </a: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314E36B2-BB31-E6CC-8577-7D413140102D}"/>
                </a:ext>
              </a:extLst>
            </p:cNvPr>
            <p:cNvSpPr/>
            <p:nvPr/>
          </p:nvSpPr>
          <p:spPr>
            <a:xfrm>
              <a:off x="3310842" y="5286254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소비자보호</a:t>
              </a: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A83AF4C6-6AAA-6D1C-825A-634397C49187}"/>
                </a:ext>
              </a:extLst>
            </p:cNvPr>
            <p:cNvSpPr/>
            <p:nvPr/>
          </p:nvSpPr>
          <p:spPr>
            <a:xfrm>
              <a:off x="4222346" y="5286254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고객센터</a:t>
              </a: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DF4CFC88-2885-9AFA-5111-7E6B70C78337}"/>
                </a:ext>
              </a:extLst>
            </p:cNvPr>
            <p:cNvSpPr/>
            <p:nvPr/>
          </p:nvSpPr>
          <p:spPr>
            <a:xfrm>
              <a:off x="5204195" y="5295401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비교조회</a:t>
              </a:r>
              <a:endParaRPr lang="en-US" altLang="ko-KR" sz="800" dirty="0">
                <a:solidFill>
                  <a:schemeClr val="tx1"/>
                </a:solidFill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A385D4F0-5990-503F-6CC7-C48150CA0493}"/>
                </a:ext>
              </a:extLst>
            </p:cNvPr>
            <p:cNvSpPr/>
            <p:nvPr/>
          </p:nvSpPr>
          <p:spPr>
            <a:xfrm>
              <a:off x="6177171" y="5295401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서민금융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6F13EAC-E7E8-5C29-1179-661CB228DF93}"/>
                </a:ext>
              </a:extLst>
            </p:cNvPr>
            <p:cNvSpPr/>
            <p:nvPr/>
          </p:nvSpPr>
          <p:spPr>
            <a:xfrm>
              <a:off x="5866496" y="2218361"/>
              <a:ext cx="1087607" cy="3695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금융소비자보호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E431AFE-4CDC-EEA2-FDEF-7890D465E28D}"/>
                </a:ext>
              </a:extLst>
            </p:cNvPr>
            <p:cNvSpPr/>
            <p:nvPr/>
          </p:nvSpPr>
          <p:spPr>
            <a:xfrm>
              <a:off x="5868723" y="1288458"/>
              <a:ext cx="1087607" cy="3695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빠른조회서비스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69249B4F-EB42-6899-8E85-C2C2E4921724}"/>
                </a:ext>
              </a:extLst>
            </p:cNvPr>
            <p:cNvSpPr/>
            <p:nvPr/>
          </p:nvSpPr>
          <p:spPr>
            <a:xfrm>
              <a:off x="6255496" y="6375886"/>
              <a:ext cx="631863" cy="2989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FAMILY</a:t>
              </a:r>
            </a:p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SITE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503C3455-F19C-00C7-4AAF-7B2F6F4D7FE3}"/>
                </a:ext>
              </a:extLst>
            </p:cNvPr>
            <p:cNvCxnSpPr>
              <a:cxnSpLocks/>
            </p:cNvCxnSpPr>
            <p:nvPr/>
          </p:nvCxnSpPr>
          <p:spPr>
            <a:xfrm>
              <a:off x="325186" y="5838851"/>
              <a:ext cx="787146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FAE665DF-77DA-EBBD-C3B8-055644D3699D}"/>
                </a:ext>
              </a:extLst>
            </p:cNvPr>
            <p:cNvSpPr/>
            <p:nvPr/>
          </p:nvSpPr>
          <p:spPr>
            <a:xfrm>
              <a:off x="4454024" y="326482"/>
              <a:ext cx="2490485" cy="2553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로그인 </a:t>
              </a:r>
              <a:r>
                <a:rPr lang="en-US" altLang="ko-KR" sz="1000" dirty="0">
                  <a:solidFill>
                    <a:schemeClr val="tx1"/>
                  </a:solidFill>
                </a:rPr>
                <a:t>| </a:t>
              </a:r>
              <a:r>
                <a:rPr lang="ko-KR" altLang="en-US" sz="1000" dirty="0">
                  <a:solidFill>
                    <a:schemeClr val="tx1"/>
                  </a:solidFill>
                </a:rPr>
                <a:t>인증센터 </a:t>
              </a:r>
              <a:r>
                <a:rPr lang="en-US" altLang="ko-KR" sz="1000" dirty="0">
                  <a:solidFill>
                    <a:schemeClr val="tx1"/>
                  </a:solidFill>
                </a:rPr>
                <a:t>| </a:t>
              </a:r>
              <a:r>
                <a:rPr lang="ko-KR" altLang="en-US" sz="1000" dirty="0">
                  <a:solidFill>
                    <a:schemeClr val="tx1"/>
                  </a:solidFill>
                </a:rPr>
                <a:t>은행소개 </a:t>
              </a:r>
              <a:r>
                <a:rPr lang="en-US" altLang="ko-KR" sz="1000" dirty="0">
                  <a:solidFill>
                    <a:schemeClr val="tx1"/>
                  </a:solidFill>
                </a:rPr>
                <a:t>| Global</a:t>
              </a:r>
              <a:r>
                <a:rPr lang="ko-KR" altLang="en-US" sz="1000" dirty="0">
                  <a:solidFill>
                    <a:schemeClr val="tx1"/>
                  </a:solidFill>
                </a:rPr>
                <a:t>▼</a:t>
              </a: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08E8E736-85AD-4066-AAD4-D2D4555FEAE0}"/>
                </a:ext>
              </a:extLst>
            </p:cNvPr>
            <p:cNvSpPr/>
            <p:nvPr/>
          </p:nvSpPr>
          <p:spPr>
            <a:xfrm>
              <a:off x="6255496" y="747170"/>
              <a:ext cx="677874" cy="1488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전체메뉴</a:t>
              </a: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64D4E7AA-B5B4-FB75-ED45-19F80B25934E}"/>
                </a:ext>
              </a:extLst>
            </p:cNvPr>
            <p:cNvSpPr/>
            <p:nvPr/>
          </p:nvSpPr>
          <p:spPr>
            <a:xfrm>
              <a:off x="5526513" y="749724"/>
              <a:ext cx="677874" cy="1488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검색하기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BE881FC-C9DE-C49F-075E-EB4356D84975}"/>
                </a:ext>
              </a:extLst>
            </p:cNvPr>
            <p:cNvSpPr/>
            <p:nvPr/>
          </p:nvSpPr>
          <p:spPr>
            <a:xfrm>
              <a:off x="2769117" y="2793408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2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010C9E9-65E9-A6F2-1640-EBCCF058618B}"/>
                </a:ext>
              </a:extLst>
            </p:cNvPr>
            <p:cNvSpPr/>
            <p:nvPr/>
          </p:nvSpPr>
          <p:spPr>
            <a:xfrm>
              <a:off x="1935760" y="3316880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DF9B2D1-8696-1F4A-730B-60A130AD9242}"/>
                </a:ext>
              </a:extLst>
            </p:cNvPr>
            <p:cNvSpPr/>
            <p:nvPr/>
          </p:nvSpPr>
          <p:spPr>
            <a:xfrm>
              <a:off x="2769117" y="3316880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4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61360F2-8C62-3934-563C-E3D3BB0A9E9F}"/>
                </a:ext>
              </a:extLst>
            </p:cNvPr>
            <p:cNvSpPr/>
            <p:nvPr/>
          </p:nvSpPr>
          <p:spPr>
            <a:xfrm>
              <a:off x="4932108" y="2802110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A2E9867-F4F6-0BEA-51A5-EB1187E2063C}"/>
                </a:ext>
              </a:extLst>
            </p:cNvPr>
            <p:cNvSpPr/>
            <p:nvPr/>
          </p:nvSpPr>
          <p:spPr>
            <a:xfrm>
              <a:off x="5765465" y="2802110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2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FE38C18-F6B3-338B-7302-3C3AB4D69E5B}"/>
                </a:ext>
              </a:extLst>
            </p:cNvPr>
            <p:cNvSpPr/>
            <p:nvPr/>
          </p:nvSpPr>
          <p:spPr>
            <a:xfrm>
              <a:off x="4932108" y="3325582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9246985-11C7-BBC2-C475-A473DA0EAE9F}"/>
                </a:ext>
              </a:extLst>
            </p:cNvPr>
            <p:cNvSpPr/>
            <p:nvPr/>
          </p:nvSpPr>
          <p:spPr>
            <a:xfrm>
              <a:off x="5765465" y="3325582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4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61CF933-6374-A4AD-8225-19A498682C5F}"/>
                </a:ext>
              </a:extLst>
            </p:cNvPr>
            <p:cNvSpPr/>
            <p:nvPr/>
          </p:nvSpPr>
          <p:spPr>
            <a:xfrm>
              <a:off x="1503637" y="6524789"/>
              <a:ext cx="3700557" cy="1500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</a:rPr>
                <a:t>COPYRIGHT</a:t>
              </a:r>
              <a:r>
                <a:rPr lang="ko-KR" altLang="en-US" sz="1000" dirty="0">
                  <a:solidFill>
                    <a:schemeClr val="tx1"/>
                  </a:solidFill>
                </a:rPr>
                <a:t>ⓒ</a:t>
              </a:r>
              <a:r>
                <a:rPr lang="en-US" altLang="ko-KR" sz="1000" dirty="0">
                  <a:solidFill>
                    <a:schemeClr val="tx1"/>
                  </a:solidFill>
                </a:rPr>
                <a:t>2014 BUSANBANK  ALL RIGHTS RESERVED.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37" name="타원 36">
            <a:extLst>
              <a:ext uri="{FF2B5EF4-FFF2-40B4-BE49-F238E27FC236}">
                <a16:creationId xmlns:a16="http://schemas.microsoft.com/office/drawing/2014/main" id="{806C8101-935F-FAD8-3FF9-1C4A9F6C7AF0}"/>
              </a:ext>
            </a:extLst>
          </p:cNvPr>
          <p:cNvSpPr/>
          <p:nvPr/>
        </p:nvSpPr>
        <p:spPr>
          <a:xfrm>
            <a:off x="1566543" y="4066541"/>
            <a:ext cx="144000" cy="144000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5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A3A3AC4F-C1BB-CBB8-AF9A-636B844946F4}"/>
              </a:ext>
            </a:extLst>
          </p:cNvPr>
          <p:cNvSpPr/>
          <p:nvPr/>
        </p:nvSpPr>
        <p:spPr>
          <a:xfrm>
            <a:off x="4496891" y="4058366"/>
            <a:ext cx="144000" cy="144000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6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08D47B0-E513-71D2-AFA9-D9D90690953F}"/>
              </a:ext>
            </a:extLst>
          </p:cNvPr>
          <p:cNvSpPr/>
          <p:nvPr/>
        </p:nvSpPr>
        <p:spPr>
          <a:xfrm>
            <a:off x="260886" y="1066487"/>
            <a:ext cx="8039100" cy="48444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5A1058C-76F9-A1D6-5B52-26FFA9D78508}"/>
              </a:ext>
            </a:extLst>
          </p:cNvPr>
          <p:cNvSpPr/>
          <p:nvPr/>
        </p:nvSpPr>
        <p:spPr>
          <a:xfrm>
            <a:off x="256314" y="1069140"/>
            <a:ext cx="918971" cy="3564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main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178" name="표 177">
            <a:extLst>
              <a:ext uri="{FF2B5EF4-FFF2-40B4-BE49-F238E27FC236}">
                <a16:creationId xmlns:a16="http://schemas.microsoft.com/office/drawing/2014/main" id="{85656129-B3A9-EEDC-F5F4-8822A5D577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07408"/>
              </p:ext>
            </p:extLst>
          </p:nvPr>
        </p:nvGraphicFramePr>
        <p:xfrm>
          <a:off x="8403899" y="138736"/>
          <a:ext cx="3439867" cy="66701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1013">
                  <a:extLst>
                    <a:ext uri="{9D8B030D-6E8A-4147-A177-3AD203B41FA5}">
                      <a16:colId xmlns:a16="http://schemas.microsoft.com/office/drawing/2014/main" val="1209635219"/>
                    </a:ext>
                  </a:extLst>
                </a:gridCol>
                <a:gridCol w="2478854">
                  <a:extLst>
                    <a:ext uri="{9D8B030D-6E8A-4147-A177-3AD203B41FA5}">
                      <a16:colId xmlns:a16="http://schemas.microsoft.com/office/drawing/2014/main" val="2414493118"/>
                    </a:ext>
                  </a:extLst>
                </a:gridCol>
              </a:tblGrid>
              <a:tr h="417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프로젝트명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BNK </a:t>
                      </a:r>
                      <a:r>
                        <a:rPr lang="ko-KR" altLang="en-US" sz="1100" dirty="0"/>
                        <a:t>웹페이지 리뉴얼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1774899"/>
                  </a:ext>
                </a:extLst>
              </a:tr>
              <a:tr h="4172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화면 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메인 화면</a:t>
                      </a:r>
                      <a:endParaRPr lang="en-US" altLang="ko-KR" sz="11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831835"/>
                  </a:ext>
                </a:extLst>
              </a:tr>
              <a:tr h="417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사용주체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Main</a:t>
                      </a:r>
                      <a:r>
                        <a:rPr lang="ko-KR" altLang="en-US" sz="1100" dirty="0"/>
                        <a:t> 부분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4449978"/>
                  </a:ext>
                </a:extLst>
              </a:tr>
              <a:tr h="411814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/>
                        <a:t>Description (</a:t>
                      </a:r>
                      <a:r>
                        <a:rPr lang="ko-KR" altLang="en-US" sz="1100" dirty="0"/>
                        <a:t>화면 설명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840105"/>
                  </a:ext>
                </a:extLst>
              </a:tr>
              <a:tr h="5006688">
                <a:tc gridSpan="2">
                  <a:txBody>
                    <a:bodyPr/>
                    <a:lstStyle/>
                    <a:p>
                      <a:pPr algn="l" latinLnBrk="1"/>
                      <a:endParaRPr lang="en-US" altLang="ko-KR" sz="1100" dirty="0"/>
                    </a:p>
                    <a:p>
                      <a:pPr algn="l" latinLnBrk="1"/>
                      <a:r>
                        <a:rPr lang="en-US" altLang="ko-KR" sz="1100" dirty="0"/>
                        <a:t>#5. </a:t>
                      </a:r>
                      <a:r>
                        <a:rPr lang="ko-KR" altLang="en-US" sz="1100" dirty="0"/>
                        <a:t>새 소식 게시판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게시판 타이틀 글자는 검은색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글 내용보다 </a:t>
                      </a:r>
                      <a:r>
                        <a:rPr lang="en-US" altLang="ko-KR" sz="1100" dirty="0"/>
                        <a:t>1.5</a:t>
                      </a:r>
                      <a:r>
                        <a:rPr lang="ko-KR" altLang="en-US" sz="1100" dirty="0"/>
                        <a:t>배 이상 </a:t>
                      </a:r>
                      <a:r>
                        <a:rPr lang="en-US" altLang="ko-KR" sz="1100" dirty="0"/>
                        <a:t>2</a:t>
                      </a:r>
                      <a:r>
                        <a:rPr lang="ko-KR" altLang="en-US" sz="1100" dirty="0"/>
                        <a:t>배 이하로 설정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게시판의 첫 내용은 부산지역 혜택 게시물 제목으로 고정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첫 번째 내용의 제목 글자의 색깔은 붉은 색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모든 내용 제목 글자의 색깔은 검정 색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타이틀과 게시글 사이에 구분선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회색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/>
                    </a:p>
                    <a:p>
                      <a:pPr algn="l" latinLnBrk="1"/>
                      <a:endParaRPr lang="en-US" altLang="ko-KR" sz="1100" dirty="0"/>
                    </a:p>
                    <a:p>
                      <a:pPr algn="l" latinLnBrk="1"/>
                      <a:r>
                        <a:rPr lang="en-US" altLang="ko-KR" sz="1100" dirty="0"/>
                        <a:t>#6. </a:t>
                      </a:r>
                      <a:r>
                        <a:rPr lang="ko-KR" altLang="en-US" sz="1100" dirty="0"/>
                        <a:t>이벤트 게시판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게시판 타이틀 글자는 검은색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글 내용보다 </a:t>
                      </a:r>
                      <a:r>
                        <a:rPr lang="en-US" altLang="ko-KR" sz="1100" dirty="0"/>
                        <a:t>1.5</a:t>
                      </a:r>
                      <a:r>
                        <a:rPr lang="ko-KR" altLang="en-US" sz="1100" dirty="0"/>
                        <a:t>배 이상 </a:t>
                      </a:r>
                      <a:r>
                        <a:rPr lang="en-US" altLang="ko-KR" sz="1100" dirty="0"/>
                        <a:t>2</a:t>
                      </a:r>
                      <a:r>
                        <a:rPr lang="ko-KR" altLang="en-US" sz="1100" dirty="0"/>
                        <a:t>배 이하로 설정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게시판의 첫 내용은 부산지역 혜택 게시물 제목으로 고정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첫 번째 내용의 제목 글자의 색깔은 붉은 색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모든 내용 제목 글자의 색깔은 검정 색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타이틀과 게시글 사이에 구분선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회색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endParaRPr lang="en-US" altLang="ko-KR" sz="11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100" dirty="0"/>
                        <a:t>#7-1~7-6. </a:t>
                      </a: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각 요소마다 버튼으로 만듦</a:t>
                      </a:r>
                      <a:r>
                        <a:rPr lang="en-US" altLang="ko-KR" sz="1100" dirty="0"/>
                        <a:t>.</a:t>
                      </a: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각 버튼 클릭 시 그에 맞는 페이지로 이동</a:t>
                      </a:r>
                      <a:endParaRPr lang="en-US" altLang="ko-KR" sz="11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727442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7726E851-83C9-A6BE-64A3-D2CB955FFBFA}"/>
              </a:ext>
            </a:extLst>
          </p:cNvPr>
          <p:cNvSpPr/>
          <p:nvPr/>
        </p:nvSpPr>
        <p:spPr>
          <a:xfrm>
            <a:off x="1404880" y="3892098"/>
            <a:ext cx="5626011" cy="17935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908DEE3-049A-04C2-B56D-C278E4CB2F6B}"/>
              </a:ext>
            </a:extLst>
          </p:cNvPr>
          <p:cNvSpPr/>
          <p:nvPr/>
        </p:nvSpPr>
        <p:spPr>
          <a:xfrm>
            <a:off x="1197728" y="5362729"/>
            <a:ext cx="144000" cy="144000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7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79118B5-89B9-D03B-5E22-A6DF88C3305A}"/>
              </a:ext>
            </a:extLst>
          </p:cNvPr>
          <p:cNvSpPr/>
          <p:nvPr/>
        </p:nvSpPr>
        <p:spPr>
          <a:xfrm>
            <a:off x="1404879" y="5218144"/>
            <a:ext cx="5626011" cy="4675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501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6ED01-CADB-F8D9-DEF9-26EF01DCB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그룹 60">
            <a:extLst>
              <a:ext uri="{FF2B5EF4-FFF2-40B4-BE49-F238E27FC236}">
                <a16:creationId xmlns:a16="http://schemas.microsoft.com/office/drawing/2014/main" id="{95C51241-E2F8-1045-82B4-0C0E7B4EAFB9}"/>
              </a:ext>
            </a:extLst>
          </p:cNvPr>
          <p:cNvGrpSpPr/>
          <p:nvPr/>
        </p:nvGrpSpPr>
        <p:grpSpPr>
          <a:xfrm>
            <a:off x="325186" y="128015"/>
            <a:ext cx="7875459" cy="6673211"/>
            <a:chOff x="325186" y="128015"/>
            <a:chExt cx="7875459" cy="667321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F8FCEBDD-F64A-0B16-74F9-E35B6B336568}"/>
                </a:ext>
              </a:extLst>
            </p:cNvPr>
            <p:cNvSpPr/>
            <p:nvPr/>
          </p:nvSpPr>
          <p:spPr>
            <a:xfrm>
              <a:off x="329184" y="128015"/>
              <a:ext cx="7871461" cy="667321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solidFill>
                  <a:schemeClr val="tx1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6C155BA5-DB6F-E40F-76E3-776FAFE5DB1C}"/>
                </a:ext>
              </a:extLst>
            </p:cNvPr>
            <p:cNvSpPr/>
            <p:nvPr/>
          </p:nvSpPr>
          <p:spPr>
            <a:xfrm>
              <a:off x="1504842" y="386054"/>
              <a:ext cx="1313928" cy="5297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>
                  <a:solidFill>
                    <a:schemeClr val="tx1"/>
                  </a:solidFill>
                </a:rPr>
                <a:t>Logo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06796FA7-6E22-0FF5-9EF2-D3E001AB007F}"/>
                </a:ext>
              </a:extLst>
            </p:cNvPr>
            <p:cNvSpPr/>
            <p:nvPr/>
          </p:nvSpPr>
          <p:spPr>
            <a:xfrm>
              <a:off x="1503638" y="5910909"/>
              <a:ext cx="5450396" cy="35108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/>
                  </a:solidFill>
                </a:rPr>
                <a:t>개인정보처리방침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경영공시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고객정보취급방침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보호금융상품등록부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상품공시실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전자민원접수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</a:p>
            <a:p>
              <a:r>
                <a:rPr lang="ko-KR" altLang="en-US" sz="800" dirty="0" err="1">
                  <a:solidFill>
                    <a:schemeClr val="tx1"/>
                  </a:solidFill>
                </a:rPr>
                <a:t>전자금융이용자보호수칙</a:t>
              </a:r>
              <a:r>
                <a:rPr lang="ko-KR" altLang="en-US" sz="800" dirty="0">
                  <a:solidFill>
                    <a:schemeClr val="tx1"/>
                  </a:solidFill>
                </a:rPr>
                <a:t>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 err="1">
                  <a:solidFill>
                    <a:schemeClr val="tx1"/>
                  </a:solidFill>
                </a:rPr>
                <a:t>전자금융사기피해금환급제도</a:t>
              </a:r>
              <a:r>
                <a:rPr lang="ko-KR" altLang="en-US" sz="800" dirty="0">
                  <a:solidFill>
                    <a:schemeClr val="tx1"/>
                  </a:solidFill>
                </a:rPr>
                <a:t> </a:t>
              </a:r>
              <a:r>
                <a:rPr lang="en-US" altLang="ko-KR" sz="800" dirty="0">
                  <a:solidFill>
                    <a:schemeClr val="tx1"/>
                  </a:solidFill>
                </a:rPr>
                <a:t>· </a:t>
              </a:r>
              <a:r>
                <a:rPr lang="ko-KR" altLang="en-US" sz="800" dirty="0">
                  <a:solidFill>
                    <a:schemeClr val="tx1"/>
                  </a:solidFill>
                </a:rPr>
                <a:t>위치기반서비스 이용약관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223A1D7C-66F9-7C9A-952C-B0FDDEB31E9F}"/>
                </a:ext>
              </a:extLst>
            </p:cNvPr>
            <p:cNvSpPr/>
            <p:nvPr/>
          </p:nvSpPr>
          <p:spPr>
            <a:xfrm>
              <a:off x="3483996" y="707887"/>
              <a:ext cx="2096749" cy="256157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 err="1">
                  <a:solidFill>
                    <a:schemeClr val="tx1"/>
                  </a:solidFill>
                </a:rPr>
                <a:t>개인뱅킹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   </a:t>
              </a:r>
              <a:r>
                <a:rPr lang="ko-KR" altLang="en-US" sz="1000" b="1" dirty="0" err="1">
                  <a:solidFill>
                    <a:schemeClr val="tx1"/>
                  </a:solidFill>
                </a:rPr>
                <a:t>기업뱅킹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   금융상품 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C634EFC6-6D38-BE54-6F5B-F75E0A00F3F5}"/>
                </a:ext>
              </a:extLst>
            </p:cNvPr>
            <p:cNvSpPr/>
            <p:nvPr/>
          </p:nvSpPr>
          <p:spPr>
            <a:xfrm>
              <a:off x="1503638" y="6288425"/>
              <a:ext cx="2718708" cy="17776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>
                  <a:solidFill>
                    <a:schemeClr val="tx1"/>
                  </a:solidFill>
                </a:rPr>
                <a:t>고객상담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1588-6200, 1544-6200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028FF07D-CE65-8A88-7C1E-86B04A2E9A9C}"/>
                </a:ext>
              </a:extLst>
            </p:cNvPr>
            <p:cNvSpPr/>
            <p:nvPr/>
          </p:nvSpPr>
          <p:spPr>
            <a:xfrm>
              <a:off x="5415850" y="6375887"/>
              <a:ext cx="699200" cy="2989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BNK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금융</a:t>
              </a:r>
              <a:endParaRPr lang="en-US" altLang="ko-KR" sz="800" b="1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네트워크</a:t>
              </a:r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F049C3E3-8476-AA42-B320-C70B72D2DDC7}"/>
                </a:ext>
              </a:extLst>
            </p:cNvPr>
            <p:cNvSpPr/>
            <p:nvPr/>
          </p:nvSpPr>
          <p:spPr>
            <a:xfrm>
              <a:off x="1506232" y="1293988"/>
              <a:ext cx="3991534" cy="130045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배너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57059873-A2C4-6C54-BB35-576CB9E1E58F}"/>
                </a:ext>
              </a:extLst>
            </p:cNvPr>
            <p:cNvSpPr/>
            <p:nvPr/>
          </p:nvSpPr>
          <p:spPr>
            <a:xfrm>
              <a:off x="5866498" y="1749154"/>
              <a:ext cx="1087607" cy="3695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사고분실신고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231A8319-3DB8-15DB-DAE8-C2BD7F69DE39}"/>
                </a:ext>
              </a:extLst>
            </p:cNvPr>
            <p:cNvSpPr/>
            <p:nvPr/>
          </p:nvSpPr>
          <p:spPr>
            <a:xfrm>
              <a:off x="1935760" y="2793408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EB3CD943-2F60-6E9C-7D1D-CB4928E7F057}"/>
                </a:ext>
              </a:extLst>
            </p:cNvPr>
            <p:cNvSpPr/>
            <p:nvPr/>
          </p:nvSpPr>
          <p:spPr>
            <a:xfrm>
              <a:off x="1504806" y="4007442"/>
              <a:ext cx="2441674" cy="1125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새 소식 게시판</a:t>
              </a:r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1F71087B-A355-C5DB-1068-CB05551AF808}"/>
                </a:ext>
              </a:extLst>
            </p:cNvPr>
            <p:cNvCxnSpPr>
              <a:cxnSpLocks/>
            </p:cNvCxnSpPr>
            <p:nvPr/>
          </p:nvCxnSpPr>
          <p:spPr>
            <a:xfrm>
              <a:off x="329184" y="1145188"/>
              <a:ext cx="787146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3234B2F9-2647-2949-3FB9-22C18E024455}"/>
                </a:ext>
              </a:extLst>
            </p:cNvPr>
            <p:cNvSpPr/>
            <p:nvPr/>
          </p:nvSpPr>
          <p:spPr>
            <a:xfrm>
              <a:off x="4446236" y="4016589"/>
              <a:ext cx="2509353" cy="112517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이벤트 게시판</a:t>
              </a: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92D130EF-E387-F5AD-560F-6B524D604E4A}"/>
                </a:ext>
              </a:extLst>
            </p:cNvPr>
            <p:cNvSpPr/>
            <p:nvPr/>
          </p:nvSpPr>
          <p:spPr>
            <a:xfrm>
              <a:off x="1505310" y="5286254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상품공시실</a:t>
              </a: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37DEA463-2812-8F97-81EF-72073AEF54BE}"/>
                </a:ext>
              </a:extLst>
            </p:cNvPr>
            <p:cNvSpPr/>
            <p:nvPr/>
          </p:nvSpPr>
          <p:spPr>
            <a:xfrm>
              <a:off x="2416814" y="5286254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자료실</a:t>
              </a: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54B00E81-497D-A816-4885-F90829D4C65C}"/>
                </a:ext>
              </a:extLst>
            </p:cNvPr>
            <p:cNvSpPr/>
            <p:nvPr/>
          </p:nvSpPr>
          <p:spPr>
            <a:xfrm>
              <a:off x="3310842" y="5286254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소비자보호</a:t>
              </a: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A15C337B-B552-9ACC-513B-0E40CB282B67}"/>
                </a:ext>
              </a:extLst>
            </p:cNvPr>
            <p:cNvSpPr/>
            <p:nvPr/>
          </p:nvSpPr>
          <p:spPr>
            <a:xfrm>
              <a:off x="4222346" y="5286254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고객센터</a:t>
              </a: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2C4EE232-DEC7-7ACE-3AB0-BC51A8380F40}"/>
                </a:ext>
              </a:extLst>
            </p:cNvPr>
            <p:cNvSpPr/>
            <p:nvPr/>
          </p:nvSpPr>
          <p:spPr>
            <a:xfrm>
              <a:off x="5204195" y="5295401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비교조회</a:t>
              </a:r>
              <a:endParaRPr lang="en-US" altLang="ko-KR" sz="800" dirty="0">
                <a:solidFill>
                  <a:schemeClr val="tx1"/>
                </a:solidFill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5C11BDE0-4F65-0E85-CDBB-B70493DB49F1}"/>
                </a:ext>
              </a:extLst>
            </p:cNvPr>
            <p:cNvSpPr/>
            <p:nvPr/>
          </p:nvSpPr>
          <p:spPr>
            <a:xfrm>
              <a:off x="6177171" y="5295401"/>
              <a:ext cx="765724" cy="27865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서민금융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ABA8102-4712-C654-AAB9-53BF8E7B508D}"/>
                </a:ext>
              </a:extLst>
            </p:cNvPr>
            <p:cNvSpPr/>
            <p:nvPr/>
          </p:nvSpPr>
          <p:spPr>
            <a:xfrm>
              <a:off x="5866496" y="2218361"/>
              <a:ext cx="1087607" cy="3695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금융소비자보호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1C854D4-07F8-A143-E83E-4D37BC88E4E9}"/>
                </a:ext>
              </a:extLst>
            </p:cNvPr>
            <p:cNvSpPr/>
            <p:nvPr/>
          </p:nvSpPr>
          <p:spPr>
            <a:xfrm>
              <a:off x="5868723" y="1288458"/>
              <a:ext cx="1087607" cy="3695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err="1">
                  <a:solidFill>
                    <a:schemeClr val="tx1"/>
                  </a:solidFill>
                </a:rPr>
                <a:t>빠른조회서비스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46C23FB-A119-2306-456C-C847CB2B8301}"/>
                </a:ext>
              </a:extLst>
            </p:cNvPr>
            <p:cNvSpPr/>
            <p:nvPr/>
          </p:nvSpPr>
          <p:spPr>
            <a:xfrm>
              <a:off x="6255496" y="6375886"/>
              <a:ext cx="631863" cy="29899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FAMILY</a:t>
              </a:r>
            </a:p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SITE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820F6C08-4E61-ADA7-5E0E-FD340B19B33F}"/>
                </a:ext>
              </a:extLst>
            </p:cNvPr>
            <p:cNvCxnSpPr>
              <a:cxnSpLocks/>
            </p:cNvCxnSpPr>
            <p:nvPr/>
          </p:nvCxnSpPr>
          <p:spPr>
            <a:xfrm>
              <a:off x="325186" y="5838851"/>
              <a:ext cx="787146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CF327B92-1BDE-1885-EC7E-CB504772CD62}"/>
                </a:ext>
              </a:extLst>
            </p:cNvPr>
            <p:cNvSpPr/>
            <p:nvPr/>
          </p:nvSpPr>
          <p:spPr>
            <a:xfrm>
              <a:off x="4454024" y="326482"/>
              <a:ext cx="2490485" cy="2553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로그인 </a:t>
              </a:r>
              <a:r>
                <a:rPr lang="en-US" altLang="ko-KR" sz="1000" dirty="0">
                  <a:solidFill>
                    <a:schemeClr val="tx1"/>
                  </a:solidFill>
                </a:rPr>
                <a:t>| </a:t>
              </a:r>
              <a:r>
                <a:rPr lang="ko-KR" altLang="en-US" sz="1000" dirty="0">
                  <a:solidFill>
                    <a:schemeClr val="tx1"/>
                  </a:solidFill>
                </a:rPr>
                <a:t>인증센터 </a:t>
              </a:r>
              <a:r>
                <a:rPr lang="en-US" altLang="ko-KR" sz="1000" dirty="0">
                  <a:solidFill>
                    <a:schemeClr val="tx1"/>
                  </a:solidFill>
                </a:rPr>
                <a:t>| </a:t>
              </a:r>
              <a:r>
                <a:rPr lang="ko-KR" altLang="en-US" sz="1000" dirty="0">
                  <a:solidFill>
                    <a:schemeClr val="tx1"/>
                  </a:solidFill>
                </a:rPr>
                <a:t>은행소개 </a:t>
              </a:r>
              <a:r>
                <a:rPr lang="en-US" altLang="ko-KR" sz="1000" dirty="0">
                  <a:solidFill>
                    <a:schemeClr val="tx1"/>
                  </a:solidFill>
                </a:rPr>
                <a:t>| Global</a:t>
              </a:r>
              <a:r>
                <a:rPr lang="ko-KR" altLang="en-US" sz="1000" dirty="0">
                  <a:solidFill>
                    <a:schemeClr val="tx1"/>
                  </a:solidFill>
                </a:rPr>
                <a:t>▼</a:t>
              </a: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F8AF739B-7C07-9819-559D-1173F0029CE9}"/>
                </a:ext>
              </a:extLst>
            </p:cNvPr>
            <p:cNvSpPr/>
            <p:nvPr/>
          </p:nvSpPr>
          <p:spPr>
            <a:xfrm>
              <a:off x="6255496" y="747170"/>
              <a:ext cx="677874" cy="1488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전체메뉴</a:t>
              </a: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BD44EF76-87B9-D152-FEEE-48E38BE88B95}"/>
                </a:ext>
              </a:extLst>
            </p:cNvPr>
            <p:cNvSpPr/>
            <p:nvPr/>
          </p:nvSpPr>
          <p:spPr>
            <a:xfrm>
              <a:off x="5526513" y="749724"/>
              <a:ext cx="677874" cy="14886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검색하기</a:t>
              </a: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2DE9ADC-F438-9B8A-D246-5D6451902AD0}"/>
                </a:ext>
              </a:extLst>
            </p:cNvPr>
            <p:cNvSpPr/>
            <p:nvPr/>
          </p:nvSpPr>
          <p:spPr>
            <a:xfrm>
              <a:off x="2769117" y="2793408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2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6678F10-3E42-2355-3963-10A38DDAA523}"/>
                </a:ext>
              </a:extLst>
            </p:cNvPr>
            <p:cNvSpPr/>
            <p:nvPr/>
          </p:nvSpPr>
          <p:spPr>
            <a:xfrm>
              <a:off x="1935760" y="3316880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4465A48-0D1B-68A8-14FA-01B8C94F111B}"/>
                </a:ext>
              </a:extLst>
            </p:cNvPr>
            <p:cNvSpPr/>
            <p:nvPr/>
          </p:nvSpPr>
          <p:spPr>
            <a:xfrm>
              <a:off x="2769117" y="3316880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4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6B8F201-87EB-17CF-0110-8940C6C867A9}"/>
                </a:ext>
              </a:extLst>
            </p:cNvPr>
            <p:cNvSpPr/>
            <p:nvPr/>
          </p:nvSpPr>
          <p:spPr>
            <a:xfrm>
              <a:off x="4932108" y="2802110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301308A-99BA-40F5-105E-A54DC4753021}"/>
                </a:ext>
              </a:extLst>
            </p:cNvPr>
            <p:cNvSpPr/>
            <p:nvPr/>
          </p:nvSpPr>
          <p:spPr>
            <a:xfrm>
              <a:off x="5765465" y="2802110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2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2F53456-50E8-97CF-A1F0-8282075FE3FD}"/>
                </a:ext>
              </a:extLst>
            </p:cNvPr>
            <p:cNvSpPr/>
            <p:nvPr/>
          </p:nvSpPr>
          <p:spPr>
            <a:xfrm>
              <a:off x="4932108" y="3325582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5D080D0-EFE6-C7BB-0CC2-9500067FCBA8}"/>
                </a:ext>
              </a:extLst>
            </p:cNvPr>
            <p:cNvSpPr/>
            <p:nvPr/>
          </p:nvSpPr>
          <p:spPr>
            <a:xfrm>
              <a:off x="5765465" y="3325582"/>
              <a:ext cx="674864" cy="38375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상품 </a:t>
              </a:r>
              <a:r>
                <a:rPr lang="en-US" altLang="ko-KR" sz="1000" dirty="0">
                  <a:solidFill>
                    <a:schemeClr val="tx1"/>
                  </a:solidFill>
                </a:rPr>
                <a:t>4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8B6B3DF-E114-C90E-AE6A-149B05900BEF}"/>
                </a:ext>
              </a:extLst>
            </p:cNvPr>
            <p:cNvSpPr/>
            <p:nvPr/>
          </p:nvSpPr>
          <p:spPr>
            <a:xfrm>
              <a:off x="1503637" y="6524789"/>
              <a:ext cx="3700557" cy="1500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1000" dirty="0">
                  <a:solidFill>
                    <a:schemeClr val="tx1"/>
                  </a:solidFill>
                </a:rPr>
                <a:t>COPYRIGHT</a:t>
              </a:r>
              <a:r>
                <a:rPr lang="ko-KR" altLang="en-US" sz="1000" dirty="0">
                  <a:solidFill>
                    <a:schemeClr val="tx1"/>
                  </a:solidFill>
                </a:rPr>
                <a:t>ⓒ</a:t>
              </a:r>
              <a:r>
                <a:rPr lang="en-US" altLang="ko-KR" sz="1000" dirty="0">
                  <a:solidFill>
                    <a:schemeClr val="tx1"/>
                  </a:solidFill>
                </a:rPr>
                <a:t>2014 BUSANBANK  ALL RIGHTS RESERVED.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37" name="타원 36">
            <a:extLst>
              <a:ext uri="{FF2B5EF4-FFF2-40B4-BE49-F238E27FC236}">
                <a16:creationId xmlns:a16="http://schemas.microsoft.com/office/drawing/2014/main" id="{98EA4E26-5318-6E50-C6CC-646B564F6E75}"/>
              </a:ext>
            </a:extLst>
          </p:cNvPr>
          <p:cNvSpPr/>
          <p:nvPr/>
        </p:nvSpPr>
        <p:spPr>
          <a:xfrm>
            <a:off x="1378539" y="5912520"/>
            <a:ext cx="144000" cy="144000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13FC19C7-5E2B-ACD7-155F-F2E2091C17FD}"/>
              </a:ext>
            </a:extLst>
          </p:cNvPr>
          <p:cNvSpPr/>
          <p:nvPr/>
        </p:nvSpPr>
        <p:spPr>
          <a:xfrm>
            <a:off x="1378539" y="6410993"/>
            <a:ext cx="144000" cy="144000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2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5613FF30-8F3B-8F1E-F987-B2F65E77FC22}"/>
              </a:ext>
            </a:extLst>
          </p:cNvPr>
          <p:cNvSpPr/>
          <p:nvPr/>
        </p:nvSpPr>
        <p:spPr>
          <a:xfrm>
            <a:off x="6815359" y="6149815"/>
            <a:ext cx="144000" cy="144000"/>
          </a:xfrm>
          <a:prstGeom prst="ellipse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FF0000"/>
                </a:solidFill>
              </a:rPr>
              <a:t>3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ACE1991-D485-982C-0EE3-1A95CE2ED20C}"/>
              </a:ext>
            </a:extLst>
          </p:cNvPr>
          <p:cNvSpPr/>
          <p:nvPr/>
        </p:nvSpPr>
        <p:spPr>
          <a:xfrm>
            <a:off x="260886" y="5727694"/>
            <a:ext cx="8039100" cy="11071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AAD8FE4-AC87-7DAE-11B6-7EC3DB98EC47}"/>
              </a:ext>
            </a:extLst>
          </p:cNvPr>
          <p:cNvSpPr/>
          <p:nvPr/>
        </p:nvSpPr>
        <p:spPr>
          <a:xfrm>
            <a:off x="256314" y="5726865"/>
            <a:ext cx="918971" cy="3564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footer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178" name="표 177">
            <a:extLst>
              <a:ext uri="{FF2B5EF4-FFF2-40B4-BE49-F238E27FC236}">
                <a16:creationId xmlns:a16="http://schemas.microsoft.com/office/drawing/2014/main" id="{5561565C-7D43-116F-CCB7-47C300095A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70305"/>
              </p:ext>
            </p:extLst>
          </p:nvPr>
        </p:nvGraphicFramePr>
        <p:xfrm>
          <a:off x="8403899" y="131052"/>
          <a:ext cx="3439867" cy="66701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1013">
                  <a:extLst>
                    <a:ext uri="{9D8B030D-6E8A-4147-A177-3AD203B41FA5}">
                      <a16:colId xmlns:a16="http://schemas.microsoft.com/office/drawing/2014/main" val="1209635219"/>
                    </a:ext>
                  </a:extLst>
                </a:gridCol>
                <a:gridCol w="2478854">
                  <a:extLst>
                    <a:ext uri="{9D8B030D-6E8A-4147-A177-3AD203B41FA5}">
                      <a16:colId xmlns:a16="http://schemas.microsoft.com/office/drawing/2014/main" val="2414493118"/>
                    </a:ext>
                  </a:extLst>
                </a:gridCol>
              </a:tblGrid>
              <a:tr h="417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프로젝트명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BNK </a:t>
                      </a:r>
                      <a:r>
                        <a:rPr lang="ko-KR" altLang="en-US" sz="1100" dirty="0"/>
                        <a:t>웹페이지 리뉴얼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1774899"/>
                  </a:ext>
                </a:extLst>
              </a:tr>
              <a:tr h="4172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화면 명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메인 화면</a:t>
                      </a:r>
                      <a:endParaRPr lang="en-US" altLang="ko-KR" sz="11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831835"/>
                  </a:ext>
                </a:extLst>
              </a:tr>
              <a:tr h="4172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사용주체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Footer</a:t>
                      </a:r>
                      <a:r>
                        <a:rPr lang="ko-KR" altLang="en-US" sz="1100" dirty="0"/>
                        <a:t> 부분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4449978"/>
                  </a:ext>
                </a:extLst>
              </a:tr>
              <a:tr h="411814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/>
                        <a:t>Description (</a:t>
                      </a:r>
                      <a:r>
                        <a:rPr lang="ko-KR" altLang="en-US" sz="1100" dirty="0"/>
                        <a:t>화면 설명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840105"/>
                  </a:ext>
                </a:extLst>
              </a:tr>
              <a:tr h="5006688">
                <a:tc gridSpan="2">
                  <a:txBody>
                    <a:bodyPr/>
                    <a:lstStyle/>
                    <a:p>
                      <a:pPr algn="l" latinLnBrk="1"/>
                      <a:endParaRPr lang="en-US" altLang="ko-KR" sz="1100" dirty="0"/>
                    </a:p>
                    <a:p>
                      <a:pPr algn="l" latinLnBrk="1"/>
                      <a:r>
                        <a:rPr lang="en-US" altLang="ko-KR" sz="1100" dirty="0"/>
                        <a:t>#1. </a:t>
                      </a:r>
                      <a:r>
                        <a:rPr lang="ko-KR" altLang="en-US" sz="1100" dirty="0"/>
                        <a:t>정책 메뉴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각 텍스트마다 해당 페이지로 이동</a:t>
                      </a:r>
                      <a:endParaRPr lang="en-US" altLang="ko-KR" sz="1100" dirty="0"/>
                    </a:p>
                    <a:p>
                      <a:pPr marL="0" indent="0" algn="l" latinLnBrk="1">
                        <a:buFontTx/>
                        <a:buNone/>
                      </a:pPr>
                      <a:endParaRPr lang="en-US" altLang="ko-KR" sz="11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100" dirty="0"/>
                        <a:t>#2-1. </a:t>
                      </a:r>
                      <a:r>
                        <a:rPr lang="ko-KR" altLang="en-US" sz="1100" dirty="0"/>
                        <a:t>고객상담 전화번호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고객상담 전화번호 정보 제공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en-US" altLang="ko-KR" sz="1100" dirty="0"/>
                        <a:t>(1588-6200)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endParaRPr lang="en-US" altLang="ko-KR" sz="11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100" dirty="0"/>
                        <a:t>#2-2. </a:t>
                      </a:r>
                      <a:r>
                        <a:rPr lang="ko-KR" altLang="en-US" sz="1100" dirty="0"/>
                        <a:t>해외상담 전화번호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해외 고객 상담 전화번호 제공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en-US" altLang="ko-KR" sz="1100" dirty="0"/>
                        <a:t>(1544-6200)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endParaRPr lang="en-US" altLang="ko-KR" sz="11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100" dirty="0"/>
                        <a:t>#2-3. </a:t>
                      </a:r>
                      <a:r>
                        <a:rPr lang="ko-KR" altLang="en-US" sz="1100" dirty="0"/>
                        <a:t>저작권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저작관 표현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100" dirty="0"/>
                        <a:t>#3-1 BNK</a:t>
                      </a:r>
                      <a:r>
                        <a:rPr lang="ko-KR" altLang="en-US" sz="1100" dirty="0"/>
                        <a:t>금융 네트워크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해당 버튼을 클릭 시 드롭다운 옵션 목록으로 해당 계열사 중 </a:t>
                      </a:r>
                      <a:r>
                        <a:rPr lang="en-US" altLang="ko-KR" sz="1100" dirty="0"/>
                        <a:t>1</a:t>
                      </a:r>
                      <a:r>
                        <a:rPr lang="ko-KR" altLang="en-US" sz="1100" dirty="0"/>
                        <a:t>개를 고르는 용도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계열사 클릭 시 해당 계열사 페이지로 이동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100" dirty="0"/>
                        <a:t>#3-2 FAMILY SITE</a:t>
                      </a:r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부산은행 관련 사이트 링크 모음 드롭다운 옵션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r>
                        <a:rPr lang="ko-KR" altLang="en-US" sz="1100" dirty="0"/>
                        <a:t>해당 링크 클릭 시 사이트 링크로 이동</a:t>
                      </a:r>
                      <a:endParaRPr lang="en-US" altLang="ko-KR" sz="1100" dirty="0"/>
                    </a:p>
                    <a:p>
                      <a:pPr marL="171450" indent="-171450" algn="l" latinLnBrk="1">
                        <a:buFontTx/>
                        <a:buChar char="-"/>
                      </a:pPr>
                      <a:endParaRPr lang="en-US" altLang="ko-KR" sz="1100" dirty="0"/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100" dirty="0"/>
                        <a:t># footer</a:t>
                      </a: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100" dirty="0"/>
                        <a:t>- Footer</a:t>
                      </a:r>
                      <a:r>
                        <a:rPr lang="ko-KR" altLang="en-US" sz="1100" dirty="0"/>
                        <a:t>의 상단에 </a:t>
                      </a:r>
                      <a:r>
                        <a:rPr lang="en-US" altLang="ko-KR" sz="1100" dirty="0"/>
                        <a:t>Main</a:t>
                      </a:r>
                      <a:r>
                        <a:rPr lang="ko-KR" altLang="en-US" sz="1100" dirty="0"/>
                        <a:t>과 구분선</a:t>
                      </a:r>
                      <a:endParaRPr lang="en-US" altLang="ko-KR" sz="11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727442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4447DC7B-2013-25C2-29B4-7EC9671A2A3B}"/>
              </a:ext>
            </a:extLst>
          </p:cNvPr>
          <p:cNvSpPr/>
          <p:nvPr/>
        </p:nvSpPr>
        <p:spPr>
          <a:xfrm>
            <a:off x="1300383" y="6288425"/>
            <a:ext cx="3712778" cy="3864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BC480D3-5D6B-6BED-086A-AD3EC512D951}"/>
              </a:ext>
            </a:extLst>
          </p:cNvPr>
          <p:cNvSpPr/>
          <p:nvPr/>
        </p:nvSpPr>
        <p:spPr>
          <a:xfrm>
            <a:off x="5464680" y="6325634"/>
            <a:ext cx="1544185" cy="3864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E741AE9-E2EF-5FD5-43C4-BB209FFC6E00}"/>
              </a:ext>
            </a:extLst>
          </p:cNvPr>
          <p:cNvSpPr/>
          <p:nvPr/>
        </p:nvSpPr>
        <p:spPr>
          <a:xfrm>
            <a:off x="5913442" y="6423483"/>
            <a:ext cx="224910" cy="2162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^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D210C90-D41B-4CD7-FE13-FB0C68B7E539}"/>
              </a:ext>
            </a:extLst>
          </p:cNvPr>
          <p:cNvSpPr/>
          <p:nvPr/>
        </p:nvSpPr>
        <p:spPr>
          <a:xfrm>
            <a:off x="6734978" y="6417253"/>
            <a:ext cx="224910" cy="2162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^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4835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1113</Words>
  <Application>Microsoft Office PowerPoint</Application>
  <PresentationFormat>와이드스크린</PresentationFormat>
  <Paragraphs>401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GGG</dc:creator>
  <cp:lastModifiedBy>GGG</cp:lastModifiedBy>
  <cp:revision>29</cp:revision>
  <dcterms:created xsi:type="dcterms:W3CDTF">2026-02-06T03:08:31Z</dcterms:created>
  <dcterms:modified xsi:type="dcterms:W3CDTF">2026-02-06T06:04:31Z</dcterms:modified>
</cp:coreProperties>
</file>